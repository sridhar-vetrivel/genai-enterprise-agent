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54864" cy="6858000"/>
          </a:xfrm>
          <a:prstGeom prst="rect">
            <a:avLst/>
          </a:prstGeom>
          <a:solidFill>
            <a:srgbClr val="009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235440" y="1143000"/>
            <a:ext cx="4572000" cy="4572000"/>
          </a:xfrm>
          <a:prstGeom prst="ellipse">
            <a:avLst/>
          </a:prstGeom>
          <a:solidFill>
            <a:srgbClr val="0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347472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45720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IMPACT pSiddhi 3.0  ·  pSiddhi-2026-01  ·  Semester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6437376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GenAI-Powered
Enterprise Copilot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37560"/>
            <a:ext cx="320040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B0BEC5"/>
                </a:solidFill>
              </a:rPr>
              <a:t>Solution Proposal  ·  RFP S4-I-24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60520"/>
            <a:ext cx="5029200" cy="1554480"/>
          </a:xfrm>
          <a:prstGeom prst="rect">
            <a:avLst/>
          </a:prstGeom>
          <a:solidFill>
            <a:srgbClr val="102235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251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Submitted by: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4251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Sridhar Vetrivel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902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Submitted to: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45902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L&amp;D Team (acting as Customer)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286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Budget Ceiling: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492861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₹2,500 (Fixed — Non-Negotiable)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2669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Due Date: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526694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End of Week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5"/>
                </a:solidFill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5"/>
                </a:solidFill>
              </a:rPr>
              <a:t>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57432" cy="1371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303520" cy="1170432"/>
          </a:xfrm>
          <a:prstGeom prst="rect">
            <a:avLst/>
          </a:prstGeom>
          <a:solidFill>
            <a:srgbClr val="102235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2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07899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Problem Understanding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481328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C5"/>
                </a:solidFill>
              </a:rPr>
              <a:t>What is broken at Psiog today and why it matters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005840"/>
            <a:ext cx="5303520" cy="1170432"/>
          </a:xfrm>
          <a:prstGeom prst="rect">
            <a:avLst/>
          </a:prstGeom>
          <a:solidFill>
            <a:srgbClr val="102235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0972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2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07899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Proposed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481328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C5"/>
                </a:solidFill>
              </a:rPr>
              <a:t>PsiogCopilot — what we're building and why AgentField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304288"/>
            <a:ext cx="5303520" cy="1170432"/>
          </a:xfrm>
          <a:prstGeom prst="rect">
            <a:avLst/>
          </a:prstGeom>
          <a:solidFill>
            <a:srgbClr val="102235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39572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2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3774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Architecture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779776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C5"/>
                </a:solidFill>
              </a:rPr>
              <a:t>5-agent system, RAG pipeline, memory 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304288"/>
            <a:ext cx="5303520" cy="1170432"/>
          </a:xfrm>
          <a:prstGeom prst="rect">
            <a:avLst/>
          </a:prstGeom>
          <a:solidFill>
            <a:srgbClr val="102235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239572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2FF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3774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Integration Depth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779776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C5"/>
                </a:solidFill>
              </a:rPr>
              <a:t>Where AI drives every decision in the stack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602736"/>
            <a:ext cx="5303520" cy="1170432"/>
          </a:xfrm>
          <a:prstGeom prst="rect">
            <a:avLst/>
          </a:prstGeom>
          <a:solidFill>
            <a:srgbClr val="102235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3694176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2FF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675887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QA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078224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C5"/>
                </a:solidFill>
              </a:rPr>
              <a:t>12 test queries, hallucination rate, ≥80% coverage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602736"/>
            <a:ext cx="5303520" cy="1170432"/>
          </a:xfrm>
          <a:prstGeom prst="rect">
            <a:avLst/>
          </a:prstGeom>
          <a:solidFill>
            <a:srgbClr val="102235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3694176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2FF"/>
                </a:solidFill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675887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Budget &amp; Cost Justification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4078224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C5"/>
                </a:solidFill>
              </a:rPr>
              <a:t>Full cost breakdown — ₹0 of ₹2,500 ceiling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901183"/>
            <a:ext cx="5303520" cy="1170432"/>
          </a:xfrm>
          <a:prstGeom prst="rect">
            <a:avLst/>
          </a:prstGeom>
          <a:solidFill>
            <a:srgbClr val="102235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4992623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2FF"/>
                </a:solidFill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4974336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Timeline &amp; Deliverables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376671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C5"/>
                </a:solidFill>
              </a:rPr>
              <a:t>Week-by-week plan, Week 10 + Week 17 checkpoints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64592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01 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5"/>
                </a:solidFill>
              </a:rPr>
              <a:t>3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Problem: A Fragmented Technology Estate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3749039" cy="2286000"/>
          </a:xfrm>
          <a:prstGeom prst="rect">
            <a:avLst/>
          </a:prstGeom>
          <a:solidFill>
            <a:srgbClr val="102235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3749039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6642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🔴 Tribal 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4884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Platform know-how lives in senior engineers' heads. New joiners take months to become productive.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1554480"/>
            <a:ext cx="3749039" cy="2286000"/>
          </a:xfrm>
          <a:prstGeom prst="rect">
            <a:avLst/>
          </a:prstGeom>
          <a:solidFill>
            <a:srgbClr val="102235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79392" y="1554480"/>
            <a:ext cx="3749039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62272" y="16642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🟡 Human Query Bottleneck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14884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Senior engineers are constantly interrupted to answer questions that are fundamentally system lookups.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1554480"/>
            <a:ext cx="3749039" cy="2286000"/>
          </a:xfrm>
          <a:prstGeom prst="rect">
            <a:avLst/>
          </a:prstGeom>
          <a:solidFill>
            <a:srgbClr val="102235"/>
          </a:solidFill>
          <a:ln w="12700">
            <a:solidFill>
              <a:srgbClr val="00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93024" y="1554480"/>
            <a:ext cx="3749039" cy="64008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75904" y="16642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🔵 Fragmented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14884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One question = 4 separate logins, 4 navigation patterns, manual stitching of results.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11457432" cy="1371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</a:rPr>
              <a:t>Why existing approaches fail: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526280"/>
            <a:ext cx="228600" cy="25603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452628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Asking a senior engineer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52628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Doesn't scale · knowledge lost when they leave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910328"/>
            <a:ext cx="228600" cy="25603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491032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Per-system dashboards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49103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Still requires knowing which dashboard + manual correlation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294376"/>
            <a:ext cx="228600" cy="25603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529437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Single-LLM chatbot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529437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Answers from training data · not live · unverifiable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678424"/>
            <a:ext cx="228600" cy="25603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567842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Keyword search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567842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No intent understanding · can't cross-reference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64592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02 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5"/>
                </a:solidFill>
              </a:rPr>
              <a:t>4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PsiogCopilot — What We're Building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BEC5"/>
                </a:solidFill>
              </a:rPr>
              <a:t>One natural-language interface. Four system domains. Grounded, cited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PsiogCopilot is a multi-agent AI copilot. Any Psiog employee types a plain-English question. A Coordinator Agent understands the intent, routes it to the right Specialist Agent(s), retrieves live data, and returns a cited answer — grounded in real system data, not training memory.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06040"/>
            <a:ext cx="11457432" cy="1371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788920"/>
            <a:ext cx="2743200" cy="2286000"/>
          </a:xfrm>
          <a:prstGeom prst="rect">
            <a:avLst/>
          </a:prstGeom>
          <a:solidFill>
            <a:srgbClr val="102235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2788920"/>
            <a:ext cx="274320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10128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Databricks
Pipeline runs · job history
analytics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3552" y="2788920"/>
            <a:ext cx="2743200" cy="2286000"/>
          </a:xfrm>
          <a:prstGeom prst="rect">
            <a:avLst/>
          </a:prstGeom>
          <a:solidFill>
            <a:srgbClr val="102235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73552" y="2788920"/>
            <a:ext cx="27432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10712" y="28803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DevOps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2" y="3310128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GitHub / Azure DevOps
Deployments · build status
quality gates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2788920"/>
            <a:ext cx="2743200" cy="2286000"/>
          </a:xfrm>
          <a:prstGeom prst="rect">
            <a:avLst/>
          </a:prstGeom>
          <a:solidFill>
            <a:srgbClr val="102235"/>
          </a:solidFill>
          <a:ln w="12700">
            <a:solidFill>
              <a:srgbClr val="00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81344" y="2788920"/>
            <a:ext cx="2743200" cy="64008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18504" y="28803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3310128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CRM System
Customer records
deal status · contacts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89136" y="2788920"/>
            <a:ext cx="2743200" cy="2286000"/>
          </a:xfrm>
          <a:prstGeom prst="rect">
            <a:avLst/>
          </a:prstGeom>
          <a:solidFill>
            <a:srgbClr val="102235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89136" y="2788920"/>
            <a:ext cx="2743200" cy="640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26296" y="28803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Internal Docs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6296" y="3310128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Runbooks · arch docs
Incident records
(Vector RAG)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C2FF"/>
                </a:solidFill>
              </a:rPr>
              <a:t>✦  All responses cite their source system or document  ·  Hallucination rate measured across 12 test queries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64592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02 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5"/>
                </a:solidFill>
              </a:rPr>
              <a:t>5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Why AgentField Instead of the Suggested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2926080" cy="1005840"/>
          </a:xfrm>
          <a:prstGeom prst="rect">
            <a:avLst/>
          </a:prstGeom>
          <a:solidFill>
            <a:srgbClr val="002A4A"/>
          </a:solidFill>
          <a:ln w="63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Suggested Tool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463040"/>
            <a:ext cx="3200400" cy="1005840"/>
          </a:xfrm>
          <a:prstGeom prst="rect">
            <a:avLst/>
          </a:prstGeom>
          <a:solidFill>
            <a:srgbClr val="002A4A"/>
          </a:solidFill>
          <a:ln w="63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15544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AgentField Replacement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463040"/>
            <a:ext cx="5303520" cy="1005840"/>
          </a:xfrm>
          <a:prstGeom prst="rect">
            <a:avLst/>
          </a:prstGeom>
          <a:solidFill>
            <a:srgbClr val="002A4A"/>
          </a:solidFill>
          <a:ln w="63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0840" y="15544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Reason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78608"/>
            <a:ext cx="2926080" cy="1005840"/>
          </a:xfrm>
          <a:prstGeom prst="rect">
            <a:avLst/>
          </a:prstGeom>
          <a:solidFill>
            <a:srgbClr val="102235"/>
          </a:solidFill>
          <a:ln w="63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67004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D6D"/>
                </a:solidFill>
              </a:rPr>
              <a:t>LangChain + MS Agent Fwk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2578608"/>
            <a:ext cx="3200400" cy="1005840"/>
          </a:xfrm>
          <a:prstGeom prst="rect">
            <a:avLst/>
          </a:prstGeom>
          <a:solidFill>
            <a:srgbClr val="102235"/>
          </a:solidFill>
          <a:ln w="63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74720" y="2670048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096"/>
                </a:solidFill>
              </a:rPr>
              <a:t>AgentField SDK Orchestration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578608"/>
            <a:ext cx="5303520" cy="1005840"/>
          </a:xfrm>
          <a:prstGeom prst="rect">
            <a:avLst/>
          </a:prstGeom>
          <a:solidFill>
            <a:srgbClr val="102235"/>
          </a:solidFill>
          <a:ln w="63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20840" y="2670048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Single framework: routing, tracing &amp; agent-to-agent calls natively — no glue code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94176"/>
            <a:ext cx="2926080" cy="1005840"/>
          </a:xfrm>
          <a:prstGeom prst="rect">
            <a:avLst/>
          </a:prstGeom>
          <a:solidFill>
            <a:srgbClr val="102235"/>
          </a:solidFill>
          <a:ln w="63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785615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D6D"/>
                </a:solidFill>
              </a:rPr>
              <a:t>Azure AI Search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3694176"/>
            <a:ext cx="3200400" cy="1005840"/>
          </a:xfrm>
          <a:prstGeom prst="rect">
            <a:avLst/>
          </a:prstGeom>
          <a:solidFill>
            <a:srgbClr val="102235"/>
          </a:solidFill>
          <a:ln w="63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0" y="3785615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096"/>
                </a:solidFill>
              </a:rPr>
              <a:t>AgentField Vector Memory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3694176"/>
            <a:ext cx="5303520" cy="1005840"/>
          </a:xfrm>
          <a:prstGeom prst="rect">
            <a:avLst/>
          </a:prstGeom>
          <a:solidFill>
            <a:srgbClr val="102235"/>
          </a:solidFill>
          <a:ln w="63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20840" y="3785615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Built-in semantic search (set_vector + similarity_search) — no external service, ₹0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809744"/>
            <a:ext cx="2926080" cy="1005840"/>
          </a:xfrm>
          <a:prstGeom prst="rect">
            <a:avLst/>
          </a:prstGeom>
          <a:solidFill>
            <a:srgbClr val="102235"/>
          </a:solidFill>
          <a:ln w="63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901183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D6D"/>
                </a:solidFill>
              </a:rPr>
              <a:t>Azure Functions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4809744"/>
            <a:ext cx="3200400" cy="1005840"/>
          </a:xfrm>
          <a:prstGeom prst="rect">
            <a:avLst/>
          </a:prstGeom>
          <a:solidFill>
            <a:srgbClr val="102235"/>
          </a:solidFill>
          <a:ln w="63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74720" y="4901183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096"/>
                </a:solidFill>
              </a:rPr>
              <a:t>AgentField Control Plane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4809744"/>
            <a:ext cx="5303520" cy="1005840"/>
          </a:xfrm>
          <a:prstGeom prst="rect">
            <a:avLst/>
          </a:prstGeom>
          <a:solidFill>
            <a:srgbClr val="102235"/>
          </a:solidFill>
          <a:ln w="63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20840" y="4901183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Docker Compose on Azure free-tier VM — simpler, lighter, zero licensing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4864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EC5"/>
                </a:solidFill>
              </a:rPr>
              <a:t>AgentField is Apache 2.0 open-source — self-hosted, zero licensing cost, 61 commits/week, used by JPMorgan &amp; ServiceNow. Every agent call traced in a DAG automatically.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64592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03 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5"/>
                </a:solidFill>
              </a:rPr>
              <a:t>6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 Architecture — 5-Agent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1010412"/>
            <a:ext cx="3200400" cy="594360"/>
          </a:xfrm>
          <a:prstGeom prst="rect">
            <a:avLst/>
          </a:prstGeom>
          <a:solidFill>
            <a:srgbClr val="002A4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147572"/>
            <a:ext cx="31638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</a:rPr>
              <a:t>👤  Employee  (plain-English question)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14813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C2FF"/>
                </a:solidFill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828800"/>
            <a:ext cx="5943600" cy="914400"/>
          </a:xfrm>
          <a:prstGeom prst="rect">
            <a:avLst/>
          </a:prstGeom>
          <a:solidFill>
            <a:srgbClr val="001E3A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17520" y="1828800"/>
            <a:ext cx="594360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80" y="19202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⚙  Coordinator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267712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LLM classifies intent  ·  Selects domain(s)  ·  Dispatches in parallel  ·  Synthesizes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788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C3AED"/>
                </a:solidFill>
              </a:rPr>
              <a:t>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788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C3AED"/>
                </a:solidFill>
              </a:rPr>
              <a:t>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788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C3AED"/>
                </a:solidFill>
              </a:rPr>
              <a:t>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788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C3AED"/>
                </a:solidFill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54680"/>
            <a:ext cx="2743200" cy="1600200"/>
          </a:xfrm>
          <a:prstGeom prst="rect">
            <a:avLst/>
          </a:prstGeom>
          <a:solidFill>
            <a:srgbClr val="102235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3154680"/>
            <a:ext cx="2743200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2461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63931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FF"/>
                </a:solidFill>
              </a:rPr>
              <a:t>Databricks
REST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1605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Pipeline &amp; job status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73552" y="3154680"/>
            <a:ext cx="2743200" cy="1600200"/>
          </a:xfrm>
          <a:prstGeom prst="rect">
            <a:avLst/>
          </a:prstGeom>
          <a:solidFill>
            <a:srgbClr val="102235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73552" y="3154680"/>
            <a:ext cx="2743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10712" y="32461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DevOps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10712" y="363931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FF"/>
                </a:solidFill>
              </a:rPr>
              <a:t>GitHub /
Azure DevOps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0712" y="41605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Build &amp; deploy status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81344" y="3154680"/>
            <a:ext cx="2743200" cy="1600200"/>
          </a:xfrm>
          <a:prstGeom prst="rect">
            <a:avLst/>
          </a:prstGeom>
          <a:solidFill>
            <a:srgbClr val="102235"/>
          </a:solidFill>
          <a:ln w="12700">
            <a:solidFill>
              <a:srgbClr val="00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81344" y="3154680"/>
            <a:ext cx="2743200" cy="54864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18504" y="32461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CRM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18504" y="363931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FF"/>
                </a:solidFill>
              </a:rPr>
              <a:t>CRM REST
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8504" y="41605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Contacts · deals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89136" y="3154680"/>
            <a:ext cx="2743200" cy="1600200"/>
          </a:xfrm>
          <a:prstGeom prst="rect">
            <a:avLst/>
          </a:prstGeom>
          <a:solidFill>
            <a:srgbClr val="102235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089136" y="3154680"/>
            <a:ext cx="2743200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26296" y="32461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Docs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26296" y="363931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FF"/>
                </a:solidFill>
              </a:rPr>
              <a:t>Vector
Memory RAG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26296" y="41605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Runbooks · arch docs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4800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E096"/>
                </a:solidFill>
              </a:rPr>
              <a:t>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5166360"/>
            <a:ext cx="7315200" cy="822960"/>
          </a:xfrm>
          <a:prstGeom prst="rect">
            <a:avLst/>
          </a:prstGeom>
          <a:solidFill>
            <a:srgbClr val="003A1A"/>
          </a:solidFill>
          <a:ln w="12700">
            <a:solidFill>
              <a:srgbClr val="00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23160" y="5212080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✅  Grounded, cited response returned to employee
    Every claim sourced  ·  Source system or document named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64592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03 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5"/>
                </a:solidFill>
              </a:rPr>
              <a:t>7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Memory Model &amp; RAG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BEC5"/>
                </a:solidFill>
              </a:rPr>
              <a:t>How PsiogCopilot stores context and retrieves grounded answers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AgentField Memory Scopes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11680"/>
            <a:ext cx="73152" cy="6858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app.memory  ·  scope: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591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Conversation history for multi-turn queries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2608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app.memory  ·  scope: global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735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Pre-indexed documentation embeddings (shared)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40480"/>
            <a:ext cx="73152" cy="68580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096"/>
                </a:solidFill>
              </a:rPr>
              <a:t>app.memory  ·  scope: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879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Intermediate results within a single query execution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554480"/>
            <a:ext cx="11457432" cy="137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1554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RAG Pipeline — Docs Agent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2011680"/>
            <a:ext cx="384048" cy="384048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20116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201168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Chunk internal docs (runbooks, arch docs)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2414016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↓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2816352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28163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281635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Generate embeddings per chunk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3218688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↓</a:t>
            </a:r>
          </a:p>
        </p:txBody>
      </p:sp>
      <p:sp>
        <p:nvSpPr>
          <p:cNvPr id="29" name="Oval 28"/>
          <p:cNvSpPr/>
          <p:nvPr/>
        </p:nvSpPr>
        <p:spPr>
          <a:xfrm>
            <a:off x="6492240" y="3621024"/>
            <a:ext cx="384048" cy="384048"/>
          </a:xfrm>
          <a:prstGeom prst="ellipse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362102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3621024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Store: app.memory.set_vector(chunk_id, embedding, metadata)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4023360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↓</a:t>
            </a:r>
          </a:p>
        </p:txBody>
      </p:sp>
      <p:sp>
        <p:nvSpPr>
          <p:cNvPr id="33" name="Oval 32"/>
          <p:cNvSpPr/>
          <p:nvPr/>
        </p:nvSpPr>
        <p:spPr>
          <a:xfrm>
            <a:off x="6492240" y="4425696"/>
            <a:ext cx="384048" cy="384048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44256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4425696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Query time: similarity_search(query_embedding, top_k=5)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1968" y="4828032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↓</a:t>
            </a:r>
          </a:p>
        </p:txBody>
      </p:sp>
      <p:sp>
        <p:nvSpPr>
          <p:cNvPr id="37" name="Oval 36"/>
          <p:cNvSpPr/>
          <p:nvPr/>
        </p:nvSpPr>
        <p:spPr>
          <a:xfrm>
            <a:off x="6492240" y="523036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52303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7728" y="523036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LLM generates cited answer from top-k retrieved chunks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64592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04  AI DEPTH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5"/>
                </a:solidFill>
              </a:rPr>
              <a:t>8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AI Integration Depth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BEC5"/>
                </a:solidFill>
              </a:rPr>
              <a:t>AI is the core — not a wrapper. Every decision in the stack is AI-driven.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3749039" cy="1938528"/>
          </a:xfrm>
          <a:prstGeom prst="rect">
            <a:avLst/>
          </a:prstGeom>
          <a:solidFill>
            <a:srgbClr val="102235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600200"/>
            <a:ext cx="3749039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7099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Query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67128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LLM classifies intent → selects correct domain(s)
Same question phrased differently still routes correctly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1600200"/>
            <a:ext cx="3749039" cy="1938528"/>
          </a:xfrm>
          <a:prstGeom prst="rect">
            <a:avLst/>
          </a:prstGeom>
          <a:solidFill>
            <a:srgbClr val="102235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79392" y="1600200"/>
            <a:ext cx="3749039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62272" y="17099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Specialist Responses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167128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LLM interprets raw API JSON into a readable, contextual answer
Does not dump raw data — understands what's relevant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93024" y="1600200"/>
            <a:ext cx="3749039" cy="1938528"/>
          </a:xfrm>
          <a:prstGeom prst="rect">
            <a:avLst/>
          </a:prstGeom>
          <a:solidFill>
            <a:srgbClr val="102235"/>
          </a:solidFill>
          <a:ln w="12700">
            <a:solidFill>
              <a:srgbClr val="00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93024" y="1600200"/>
            <a:ext cx="3749039" cy="54864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75904" y="17099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Semantic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167128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Embedding model converts query to vector
Pure semantic match — not keyword search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03320"/>
            <a:ext cx="3749039" cy="1938528"/>
          </a:xfrm>
          <a:prstGeom prst="rect">
            <a:avLst/>
          </a:prstGeom>
          <a:solidFill>
            <a:srgbClr val="102235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703320"/>
            <a:ext cx="3749039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813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Response Synthesis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70248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Coordinator LLM merges multi-agent results
Handles cross-domain answers coherently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9392" y="3703320"/>
            <a:ext cx="3749039" cy="1938528"/>
          </a:xfrm>
          <a:prstGeom prst="rect">
            <a:avLst/>
          </a:prstGeom>
          <a:solidFill>
            <a:srgbClr val="102235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79392" y="3703320"/>
            <a:ext cx="3749039" cy="54864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62272" y="3813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QA / Judge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2" y="4270248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LLM verifies each claim against cited source
Measures hallucination rate automatically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3093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0BEC5"/>
                </a:solidFill>
              </a:rPr>
              <a:t>LLM: Gemini 2.5 Flash (free) via OpenRouter  ·  Dev fallback: Llama 4 Scout via Ollama (local, ₹0)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64592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05 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5"/>
                </a:solidFill>
              </a:rPr>
              <a:t>9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QA Strategy — Built In From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BEC5"/>
                </a:solidFill>
              </a:rPr>
              <a:t>QA is not an afterthought. It is embedded into the architecture.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2743200" cy="1371600"/>
          </a:xfrm>
          <a:prstGeom prst="rect">
            <a:avLst/>
          </a:prstGeom>
          <a:solidFill>
            <a:srgbClr val="102235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600200"/>
            <a:ext cx="2743200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6916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21408"/>
            <a:ext cx="2468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Each @app.skill() in isolation
pytest + mocked API responses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3552" y="1600200"/>
            <a:ext cx="2743200" cy="1371600"/>
          </a:xfrm>
          <a:prstGeom prst="rect">
            <a:avLst/>
          </a:prstGeom>
          <a:solidFill>
            <a:srgbClr val="102235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73552" y="1600200"/>
            <a:ext cx="2743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10712" y="16916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2121408"/>
            <a:ext cx="2468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Each specialist agent end-to-end
pytest → live AgentField control plane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1600200"/>
            <a:ext cx="2743200" cy="1371600"/>
          </a:xfrm>
          <a:prstGeom prst="rect">
            <a:avLst/>
          </a:prstGeom>
          <a:solidFill>
            <a:srgbClr val="102235"/>
          </a:solidFill>
          <a:ln w="12700">
            <a:solidFill>
              <a:srgbClr val="00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81344" y="1600200"/>
            <a:ext cx="2743200" cy="54864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18504" y="16916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2121408"/>
            <a:ext cx="2468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Coordinator routes all 12 queries correctly
Actual vs expected domain assertion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89136" y="1600200"/>
            <a:ext cx="2743200" cy="1371600"/>
          </a:xfrm>
          <a:prstGeom prst="rect">
            <a:avLst/>
          </a:prstGeom>
          <a:solidFill>
            <a:srgbClr val="102235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89136" y="1600200"/>
            <a:ext cx="2743200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26296" y="16916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E2E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2121408"/>
            <a:ext cx="2468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Full query → cited response lifecycle
curl / test harness on deployed system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108960"/>
            <a:ext cx="11457432" cy="1371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321868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</a:rPr>
              <a:t>Key Metrics We Will Measure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657600"/>
            <a:ext cx="73152" cy="4114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3657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Routing 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8862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Correctly routed queries / Total queries × 100  →  Target: 100%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51960"/>
            <a:ext cx="73152" cy="4114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4251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Hallucination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4805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Ungrounded claims / Total claims × 100  →  Target: &lt;10%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846320"/>
            <a:ext cx="73152" cy="4114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4846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QA Coverage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0749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≥80% across routing, retrieval, integration, response generation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577840"/>
            <a:ext cx="11457432" cy="137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5669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EC5"/>
                </a:solidFill>
              </a:rPr>
              <a:t>AI-Assisted QA: A dedicated Judge Agent (LLM reasoner) verifies every claim against its cited source and scores response quality 1–5 — producing an automated QA report per test run.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64592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05 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5"/>
                </a:solidFill>
              </a:rPr>
              <a:t>10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12 Mandatory Test Queries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BEC5"/>
                </a:solidFill>
              </a:rPr>
              <a:t>Each query has a predefined expected domain — routing accuracy is machine-verified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5760720" cy="795528"/>
          </a:xfrm>
          <a:prstGeom prst="rect">
            <a:avLst/>
          </a:prstGeom>
          <a:solidFill>
            <a:srgbClr val="102235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1581912"/>
            <a:ext cx="502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2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554480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Did yesterday's ETL pipeline run successfully?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947672"/>
            <a:ext cx="4526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FF"/>
                </a:solidFill>
              </a:rPr>
              <a:t>Data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508760"/>
            <a:ext cx="5760720" cy="795528"/>
          </a:xfrm>
          <a:prstGeom prst="rect">
            <a:avLst/>
          </a:prstGeom>
          <a:solidFill>
            <a:srgbClr val="102235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8" y="1581912"/>
            <a:ext cx="502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2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1554480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What was the error in the last failed Databricks job?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1947672"/>
            <a:ext cx="4526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FF"/>
                </a:solidFill>
              </a:rPr>
              <a:t>Data Platform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395728"/>
            <a:ext cx="5760720" cy="795528"/>
          </a:xfrm>
          <a:prstGeom prst="rect">
            <a:avLst/>
          </a:prstGeom>
          <a:solidFill>
            <a:srgbClr val="102235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2468880"/>
            <a:ext cx="502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441448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Did the payments service deployment pass all quality gates?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2834640"/>
            <a:ext cx="4526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C3AED"/>
                </a:solidFill>
              </a:rPr>
              <a:t>DevOps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395728"/>
            <a:ext cx="5760720" cy="795528"/>
          </a:xfrm>
          <a:prstGeom prst="rect">
            <a:avLst/>
          </a:prstGeom>
          <a:solidFill>
            <a:srgbClr val="102235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64808" y="2468880"/>
            <a:ext cx="502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3448" y="2441448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What was the last deployment date for the auth service?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8" y="2834640"/>
            <a:ext cx="4526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C3AED"/>
                </a:solidFill>
              </a:rPr>
              <a:t>DevOps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282696"/>
            <a:ext cx="5760720" cy="795528"/>
          </a:xfrm>
          <a:prstGeom prst="rect">
            <a:avLst/>
          </a:prstGeom>
          <a:solidFill>
            <a:srgbClr val="102235"/>
          </a:solidFill>
          <a:ln w="12700">
            <a:solidFill>
              <a:srgbClr val="00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" y="3355848"/>
            <a:ext cx="502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096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3328415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What is the deal status for Acme Corp?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3721608"/>
            <a:ext cx="4526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E096"/>
                </a:solidFill>
              </a:rPr>
              <a:t>CRM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3282696"/>
            <a:ext cx="5760720" cy="795528"/>
          </a:xfrm>
          <a:prstGeom prst="rect">
            <a:avLst/>
          </a:prstGeom>
          <a:solidFill>
            <a:srgbClr val="102235"/>
          </a:solidFill>
          <a:ln w="12700">
            <a:solidFill>
              <a:srgbClr val="00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64808" y="3355848"/>
            <a:ext cx="502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096"/>
                </a:solidFill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3448" y="3328415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Who is the account owner for TechStart Ltd?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3448" y="3721608"/>
            <a:ext cx="4526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E096"/>
                </a:solidFill>
              </a:rPr>
              <a:t>CRM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169664"/>
            <a:ext cx="5760720" cy="795528"/>
          </a:xfrm>
          <a:prstGeom prst="rect">
            <a:avLst/>
          </a:prstGeom>
          <a:solidFill>
            <a:srgbClr val="102235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5488" y="4242816"/>
            <a:ext cx="502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600"/>
                </a:solidFill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4215384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What is the runbook for a schema mismatch error?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4608576"/>
            <a:ext cx="4526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D600"/>
                </a:solidFill>
              </a:rPr>
              <a:t>Docs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4169664"/>
            <a:ext cx="5760720" cy="795528"/>
          </a:xfrm>
          <a:prstGeom prst="rect">
            <a:avLst/>
          </a:prstGeom>
          <a:solidFill>
            <a:srgbClr val="102235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64808" y="4242816"/>
            <a:ext cx="502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600"/>
                </a:solidFill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13448" y="4215384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What does the architecture doc say about the ingestion pipeline?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13448" y="4608576"/>
            <a:ext cx="4526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D600"/>
                </a:solidFill>
              </a:rPr>
              <a:t>Docs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056631"/>
            <a:ext cx="5760720" cy="795528"/>
          </a:xfrm>
          <a:prstGeom prst="rect">
            <a:avLst/>
          </a:prstGeom>
          <a:solidFill>
            <a:srgbClr val="102235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5488" y="5129783"/>
            <a:ext cx="502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6D"/>
                </a:solidFill>
              </a:rPr>
              <a:t>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" y="5102351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Did last night's pipeline failure affect any CRM customer sync?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" y="5495544"/>
            <a:ext cx="4526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4D6D"/>
                </a:solidFill>
              </a:rPr>
              <a:t>Data Platform + CRM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55080" y="5056631"/>
            <a:ext cx="5760720" cy="795528"/>
          </a:xfrm>
          <a:prstGeom prst="rect">
            <a:avLst/>
          </a:prstGeom>
          <a:solidFill>
            <a:srgbClr val="102235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64808" y="5129783"/>
            <a:ext cx="502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6D"/>
                </a:solidFill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13448" y="5102351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The ingestion job failed — is there a fix in the runbooks?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13448" y="5495544"/>
            <a:ext cx="4526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4D6D"/>
                </a:solidFill>
              </a:rPr>
              <a:t>Data Platform + Docs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943600"/>
            <a:ext cx="5760720" cy="795528"/>
          </a:xfrm>
          <a:prstGeom prst="rect">
            <a:avLst/>
          </a:prstGeom>
          <a:solidFill>
            <a:srgbClr val="102235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75488" y="6016752"/>
            <a:ext cx="502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6D"/>
                </a:solidFill>
              </a:rP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" y="5989320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What's the status of the latest deployment and known issues?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" y="6382512"/>
            <a:ext cx="4526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4D6D"/>
                </a:solidFill>
              </a:rPr>
              <a:t>DevOps + Docs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5943600"/>
            <a:ext cx="5760720" cy="795528"/>
          </a:xfrm>
          <a:prstGeom prst="rect">
            <a:avLst/>
          </a:prstGeom>
          <a:solidFill>
            <a:srgbClr val="102235"/>
          </a:solidFill>
          <a:ln w="12700">
            <a:solidFill>
              <a:srgbClr val="FF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64808" y="6016752"/>
            <a:ext cx="502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6FF"/>
                </a:solidFill>
              </a:rPr>
              <a:t>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13448" y="5989320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Full status: pipeline, deployments, and open incidents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13448" y="6382512"/>
            <a:ext cx="4526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66FF"/>
                </a:solidFill>
              </a:rPr>
              <a:t>All 4 Domains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64592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06 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5"/>
                </a:solidFill>
              </a:rPr>
              <a:t>11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Budget &amp; Cost Justification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B0BEC5"/>
                </a:solidFill>
              </a:rPr>
              <a:t>Total estimated spend: ₹</a:t>
            </a:r>
            <a:r>
              <a:rPr lang="en-IN" sz="1400" b="0" i="1" dirty="0">
                <a:solidFill>
                  <a:srgbClr val="B0BEC5"/>
                </a:solidFill>
              </a:rPr>
              <a:t>2500</a:t>
            </a:r>
            <a:r>
              <a:rPr sz="1400" b="0" i="1" dirty="0">
                <a:solidFill>
                  <a:srgbClr val="B0BEC5"/>
                </a:solidFill>
              </a:rPr>
              <a:t> of ₹2,500 ceiling — full buffer retained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2743200" cy="1828800"/>
          </a:xfrm>
          <a:prstGeom prst="rect">
            <a:avLst/>
          </a:prstGeom>
          <a:solidFill>
            <a:srgbClr val="003A1A"/>
          </a:solidFill>
          <a:ln w="12700">
            <a:solidFill>
              <a:srgbClr val="00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600200"/>
            <a:ext cx="2743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 dirty="0">
                <a:solidFill>
                  <a:srgbClr val="00E096"/>
                </a:solidFill>
              </a:rPr>
              <a:t>₹</a:t>
            </a:r>
            <a:r>
              <a:rPr lang="en-IN" sz="6000" b="1" i="0" dirty="0">
                <a:solidFill>
                  <a:srgbClr val="00E096"/>
                </a:solidFill>
              </a:rPr>
              <a:t>2500</a:t>
            </a:r>
            <a:endParaRPr sz="6000" b="1" i="0" dirty="0">
              <a:solidFill>
                <a:srgbClr val="00E096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</a:rPr>
              <a:t>of ₹2,500 ceiling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554480"/>
            <a:ext cx="5029200" cy="493776"/>
          </a:xfrm>
          <a:prstGeom prst="rect">
            <a:avLst/>
          </a:prstGeom>
          <a:solidFill>
            <a:srgbClr val="102235"/>
          </a:solidFill>
          <a:ln w="381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21040" y="1554480"/>
            <a:ext cx="1005840" cy="493776"/>
          </a:xfrm>
          <a:prstGeom prst="rect">
            <a:avLst/>
          </a:prstGeom>
          <a:solidFill>
            <a:srgbClr val="102235"/>
          </a:solidFill>
          <a:ln w="381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29000" y="16002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AgentField 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0020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BEC5"/>
                </a:solidFill>
              </a:rPr>
              <a:t>Apache 2.0, self-hosted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600200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096"/>
                </a:solidFill>
              </a:rPr>
              <a:t>₹0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066543"/>
            <a:ext cx="5029200" cy="493776"/>
          </a:xfrm>
          <a:prstGeom prst="rect">
            <a:avLst/>
          </a:prstGeom>
          <a:solidFill>
            <a:srgbClr val="0D1B2A"/>
          </a:solidFill>
          <a:ln w="381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21040" y="2066543"/>
            <a:ext cx="1005840" cy="493776"/>
          </a:xfrm>
          <a:prstGeom prst="rect">
            <a:avLst/>
          </a:prstGeom>
          <a:solidFill>
            <a:srgbClr val="0D1B2A"/>
          </a:solidFill>
          <a:ln w="381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29000" y="2112263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Vector Memory / Semantic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112263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BEC5"/>
                </a:solidFill>
              </a:rPr>
              <a:t>AgentField built-in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112263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096"/>
                </a:solidFill>
              </a:rPr>
              <a:t>₹0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2578608"/>
            <a:ext cx="5029200" cy="493776"/>
          </a:xfrm>
          <a:prstGeom prst="rect">
            <a:avLst/>
          </a:prstGeom>
          <a:solidFill>
            <a:srgbClr val="102235"/>
          </a:solidFill>
          <a:ln w="381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21040" y="2578608"/>
            <a:ext cx="1005840" cy="493776"/>
          </a:xfrm>
          <a:prstGeom prst="rect">
            <a:avLst/>
          </a:prstGeom>
          <a:solidFill>
            <a:srgbClr val="102235"/>
          </a:solidFill>
          <a:ln w="381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29000" y="2624328"/>
            <a:ext cx="2743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</a:rPr>
              <a:t>LLM — </a:t>
            </a:r>
            <a:r>
              <a:rPr lang="en-IN" sz="1000" b="1" i="0" dirty="0" err="1">
                <a:solidFill>
                  <a:srgbClr val="FFFFFF"/>
                </a:solidFill>
              </a:rPr>
              <a:t>Openrouter</a:t>
            </a:r>
            <a:r>
              <a:rPr lang="en-IN" sz="1000" b="1" i="0" dirty="0">
                <a:solidFill>
                  <a:srgbClr val="FFFFFF"/>
                </a:solidFill>
              </a:rPr>
              <a:t> APIs</a:t>
            </a:r>
            <a:endParaRPr sz="1000" b="1" i="0" dirty="0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72200" y="2624328"/>
            <a:ext cx="2057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900" b="0" i="1" dirty="0">
                <a:solidFill>
                  <a:srgbClr val="B0BEC5"/>
                </a:solidFill>
              </a:rPr>
              <a:t>Any LLM models</a:t>
            </a:r>
            <a:endParaRPr sz="900" b="0" i="1" dirty="0">
              <a:solidFill>
                <a:srgbClr val="B0BEC5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66760" y="2624328"/>
            <a:ext cx="868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0E096"/>
                </a:solidFill>
              </a:rPr>
              <a:t>₹</a:t>
            </a:r>
            <a:r>
              <a:rPr lang="en-IN" sz="1100" b="1" i="0" dirty="0">
                <a:solidFill>
                  <a:srgbClr val="00E096"/>
                </a:solidFill>
              </a:rPr>
              <a:t>2500</a:t>
            </a:r>
            <a:endParaRPr sz="1100" b="1" i="0" dirty="0">
              <a:solidFill>
                <a:srgbClr val="00E096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291840" y="3090672"/>
            <a:ext cx="5029200" cy="493776"/>
          </a:xfrm>
          <a:prstGeom prst="rect">
            <a:avLst/>
          </a:prstGeom>
          <a:solidFill>
            <a:srgbClr val="0D1B2A"/>
          </a:solidFill>
          <a:ln w="381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321040" y="3090672"/>
            <a:ext cx="1005840" cy="493776"/>
          </a:xfrm>
          <a:prstGeom prst="rect">
            <a:avLst/>
          </a:prstGeom>
          <a:solidFill>
            <a:srgbClr val="0D1B2A"/>
          </a:solidFill>
          <a:ln w="381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29000" y="3136391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LLM — Llama 4 Scout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3136391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BEC5"/>
                </a:solidFill>
              </a:rPr>
              <a:t>Ollama local (dev fallback)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136391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096"/>
                </a:solidFill>
              </a:rPr>
              <a:t>₹0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3602736"/>
            <a:ext cx="5029200" cy="493776"/>
          </a:xfrm>
          <a:prstGeom prst="rect">
            <a:avLst/>
          </a:prstGeom>
          <a:solidFill>
            <a:srgbClr val="102235"/>
          </a:solidFill>
          <a:ln w="381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321040" y="3602736"/>
            <a:ext cx="1005840" cy="493776"/>
          </a:xfrm>
          <a:prstGeom prst="rect">
            <a:avLst/>
          </a:prstGeom>
          <a:solidFill>
            <a:srgbClr val="102235"/>
          </a:solidFill>
          <a:ln w="381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29000" y="364845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Data 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3648456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BEC5"/>
                </a:solidFill>
              </a:rPr>
              <a:t>Databricks Free Edition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3648456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096"/>
                </a:solidFill>
              </a:rPr>
              <a:t>₹0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0" y="4114800"/>
            <a:ext cx="5029200" cy="493776"/>
          </a:xfrm>
          <a:prstGeom prst="rect">
            <a:avLst/>
          </a:prstGeom>
          <a:solidFill>
            <a:srgbClr val="0D1B2A"/>
          </a:solidFill>
          <a:ln w="381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321040" y="4114800"/>
            <a:ext cx="1005840" cy="493776"/>
          </a:xfrm>
          <a:prstGeom prst="rect">
            <a:avLst/>
          </a:prstGeom>
          <a:solidFill>
            <a:srgbClr val="0D1B2A"/>
          </a:solidFill>
          <a:ln w="381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29000" y="41605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DevOps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41605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BEC5"/>
                </a:solidFill>
              </a:rPr>
              <a:t>GitHub API Free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160520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096"/>
                </a:solidFill>
              </a:rPr>
              <a:t>₹0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0" y="4626864"/>
            <a:ext cx="5029200" cy="493776"/>
          </a:xfrm>
          <a:prstGeom prst="rect">
            <a:avLst/>
          </a:prstGeom>
          <a:solidFill>
            <a:srgbClr val="102235"/>
          </a:solidFill>
          <a:ln w="381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321040" y="4626864"/>
            <a:ext cx="1005840" cy="493776"/>
          </a:xfrm>
          <a:prstGeom prst="rect">
            <a:avLst/>
          </a:prstGeom>
          <a:solidFill>
            <a:srgbClr val="102235"/>
          </a:solidFill>
          <a:ln w="381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429000" y="467258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CRM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4672584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BEC5"/>
                </a:solidFill>
              </a:rPr>
              <a:t>HubSpot Free / mock 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4672584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096"/>
                </a:solidFill>
              </a:rPr>
              <a:t>₹0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91840" y="5138928"/>
            <a:ext cx="5029200" cy="493776"/>
          </a:xfrm>
          <a:prstGeom prst="rect">
            <a:avLst/>
          </a:prstGeom>
          <a:solidFill>
            <a:srgbClr val="0D1B2A"/>
          </a:solidFill>
          <a:ln w="381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321040" y="5138928"/>
            <a:ext cx="1005840" cy="493776"/>
          </a:xfrm>
          <a:prstGeom prst="rect">
            <a:avLst/>
          </a:prstGeom>
          <a:solidFill>
            <a:srgbClr val="0D1B2A"/>
          </a:solidFill>
          <a:ln w="381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429000" y="51846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Azure Hosting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518464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BEC5"/>
                </a:solidFill>
              </a:rPr>
              <a:t>Azure B1s VM free tier (750 hrs/mo)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5184648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096"/>
                </a:solidFill>
              </a:rPr>
              <a:t>₹0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91840" y="5650992"/>
            <a:ext cx="5029200" cy="493776"/>
          </a:xfrm>
          <a:prstGeom prst="rect">
            <a:avLst/>
          </a:prstGeom>
          <a:solidFill>
            <a:srgbClr val="102235"/>
          </a:solidFill>
          <a:ln w="381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321040" y="5650992"/>
            <a:ext cx="1005840" cy="493776"/>
          </a:xfrm>
          <a:prstGeom prst="rect">
            <a:avLst/>
          </a:prstGeom>
          <a:solidFill>
            <a:srgbClr val="102235"/>
          </a:solidFill>
          <a:ln w="381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429000" y="569671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Dev Tooling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72200" y="5696712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BEC5"/>
                </a:solidFill>
              </a:rPr>
              <a:t>GitHub Copilot Free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5696712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096"/>
                </a:solidFill>
              </a:rPr>
              <a:t>₹0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91840" y="6181344"/>
            <a:ext cx="5029200" cy="493776"/>
          </a:xfrm>
          <a:prstGeom prst="rect">
            <a:avLst/>
          </a:prstGeom>
          <a:solidFill>
            <a:srgbClr val="002A12"/>
          </a:solidFill>
          <a:ln w="12700">
            <a:solidFill>
              <a:srgbClr val="00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321040" y="6181344"/>
            <a:ext cx="1005840" cy="493776"/>
          </a:xfrm>
          <a:prstGeom prst="rect">
            <a:avLst/>
          </a:prstGeom>
          <a:solidFill>
            <a:srgbClr val="002A12"/>
          </a:solidFill>
          <a:ln w="12700">
            <a:solidFill>
              <a:srgbClr val="00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29000" y="621792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096"/>
                </a:solidFill>
              </a:rPr>
              <a:t>TOTAL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66760" y="6217920"/>
            <a:ext cx="868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0E096"/>
                </a:solidFill>
              </a:rPr>
              <a:t>₹</a:t>
            </a:r>
            <a:r>
              <a:rPr lang="en-IN" sz="1100" b="1" i="0" dirty="0">
                <a:solidFill>
                  <a:srgbClr val="00E096"/>
                </a:solidFill>
              </a:rPr>
              <a:t>2500</a:t>
            </a:r>
            <a:endParaRPr sz="1100" b="1" i="0" dirty="0">
              <a:solidFill>
                <a:srgbClr val="00E096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64592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07 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5"/>
                </a:solidFill>
              </a:rPr>
              <a:t>12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Week-by-Week Timeline  (Weeks 4–17)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731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W2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1463040"/>
            <a:ext cx="5029200" cy="548640"/>
          </a:xfrm>
          <a:prstGeom prst="rect">
            <a:avLst/>
          </a:prstGeom>
          <a:solidFill>
            <a:srgbClr val="10223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14813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Proposal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7373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This document submitted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03120"/>
            <a:ext cx="731520" cy="5486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1031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W4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2103120"/>
            <a:ext cx="5029200" cy="548640"/>
          </a:xfrm>
          <a:prstGeom prst="rect">
            <a:avLst/>
          </a:prstGeom>
          <a:solidFill>
            <a:srgbClr val="102235"/>
          </a:solidFill>
          <a:ln w="63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21214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FF"/>
                </a:solidFill>
              </a:rPr>
              <a:t>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377439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AgentField running · Azure VM · OpenRouter connected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43200"/>
            <a:ext cx="731520" cy="5486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27432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W5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2743200"/>
            <a:ext cx="5029200" cy="548640"/>
          </a:xfrm>
          <a:prstGeom prst="rect">
            <a:avLst/>
          </a:prstGeom>
          <a:solidFill>
            <a:srgbClr val="102235"/>
          </a:solidFill>
          <a:ln w="63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4440" y="27614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FF"/>
                </a:solidFill>
              </a:rPr>
              <a:t>Coordinator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01752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Query routing live · Pydantic schemas defined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383279"/>
            <a:ext cx="731520" cy="5486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3383279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W6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3383279"/>
            <a:ext cx="5029200" cy="548640"/>
          </a:xfrm>
          <a:prstGeom prst="rect">
            <a:avLst/>
          </a:prstGeom>
          <a:solidFill>
            <a:srgbClr val="102235"/>
          </a:solidFill>
          <a:ln w="63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34440" y="3401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FF"/>
                </a:solidFill>
              </a:rPr>
              <a:t>Data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3657599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Databricks REST API · job status queries · unit tests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023360"/>
            <a:ext cx="73152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4023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W7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" y="4023360"/>
            <a:ext cx="5029200" cy="548640"/>
          </a:xfrm>
          <a:prstGeom prst="rect">
            <a:avLst/>
          </a:prstGeom>
          <a:solidFill>
            <a:srgbClr val="102235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34440" y="40416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Docs Agent + RAG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429768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Docs indexed · similarity search working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663440"/>
            <a:ext cx="73152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46634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W8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" y="4663440"/>
            <a:ext cx="5029200" cy="548640"/>
          </a:xfrm>
          <a:prstGeom prst="rect">
            <a:avLst/>
          </a:prstGeom>
          <a:solidFill>
            <a:srgbClr val="102235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234440" y="468172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DevOps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4937759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GitHub / Azure DevOps API · build status · quality gates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303519"/>
            <a:ext cx="73152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5303519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W9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5303519"/>
            <a:ext cx="5029200" cy="548640"/>
          </a:xfrm>
          <a:prstGeom prst="rect">
            <a:avLst/>
          </a:prstGeom>
          <a:solidFill>
            <a:srgbClr val="102235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234440" y="532180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CRM 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5577839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CRM API connected · contact · deal · account queries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943600"/>
            <a:ext cx="731520" cy="5486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5760" y="5943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W10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97280" y="5943600"/>
            <a:ext cx="5029200" cy="548640"/>
          </a:xfrm>
          <a:prstGeom prst="rect">
            <a:avLst/>
          </a:prstGeom>
          <a:solidFill>
            <a:srgbClr val="1A1400"/>
          </a:solidFill>
          <a:ln w="63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234440" y="59618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</a:rPr>
              <a:t>✦ CHECKPOINT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34440" y="621792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4 agents live · 6/12 queries passing · ≥50% unit tests · Moodle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1463040"/>
            <a:ext cx="731520" cy="54864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09360" y="14630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W11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40880" y="1463040"/>
            <a:ext cx="5029200" cy="548640"/>
          </a:xfrm>
          <a:prstGeom prst="rect">
            <a:avLst/>
          </a:prstGeom>
          <a:solidFill>
            <a:srgbClr val="102235"/>
          </a:solidFill>
          <a:ln w="6350">
            <a:solidFill>
              <a:srgbClr val="00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178040" y="14813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096"/>
                </a:solidFill>
              </a:rPr>
              <a:t>Cross-Domain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78040" y="17373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Parallel dispatch · multi-domain queries · session memory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2103120"/>
            <a:ext cx="731520" cy="54864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09360" y="21031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W12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40880" y="2103120"/>
            <a:ext cx="5029200" cy="548640"/>
          </a:xfrm>
          <a:prstGeom prst="rect">
            <a:avLst/>
          </a:prstGeom>
          <a:solidFill>
            <a:srgbClr val="102235"/>
          </a:solidFill>
          <a:ln w="6350">
            <a:solidFill>
              <a:srgbClr val="00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178040" y="21214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096"/>
                </a:solidFill>
              </a:rPr>
              <a:t>Full Test Suite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78040" y="2377439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All 12 queries · routing accuracy · initial hallucination rate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2743200"/>
            <a:ext cx="731520" cy="54864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309360" y="27432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W13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40880" y="2743200"/>
            <a:ext cx="5029200" cy="548640"/>
          </a:xfrm>
          <a:prstGeom prst="rect">
            <a:avLst/>
          </a:prstGeom>
          <a:solidFill>
            <a:srgbClr val="102235"/>
          </a:solidFill>
          <a:ln w="6350">
            <a:solidFill>
              <a:srgbClr val="00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178040" y="27614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096"/>
                </a:solidFill>
              </a:rPr>
              <a:t>Judge Agent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78040" y="301752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Automated hallucination detection · QA report per run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09360" y="3383279"/>
            <a:ext cx="731520" cy="54864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309360" y="3383279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W14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40880" y="3383279"/>
            <a:ext cx="5029200" cy="548640"/>
          </a:xfrm>
          <a:prstGeom prst="rect">
            <a:avLst/>
          </a:prstGeom>
          <a:solidFill>
            <a:srgbClr val="102235"/>
          </a:solidFill>
          <a:ln w="6350">
            <a:solidFill>
              <a:srgbClr val="00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178040" y="3401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096"/>
                </a:solidFill>
              </a:rPr>
              <a:t>Azure Deploy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78040" y="3657599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Full system on Azure · all agents connected end-to-end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4023360"/>
            <a:ext cx="731520" cy="5486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309360" y="4023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W15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040880" y="4023360"/>
            <a:ext cx="5029200" cy="548640"/>
          </a:xfrm>
          <a:prstGeom prst="rect">
            <a:avLst/>
          </a:prstGeom>
          <a:solidFill>
            <a:srgbClr val="102235"/>
          </a:solidFill>
          <a:ln w="63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178040" y="40416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FF"/>
                </a:solidFill>
              </a:rPr>
              <a:t>QA Hardening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78040" y="429768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≥80% coverage · edge cases · response quality validated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09360" y="4663440"/>
            <a:ext cx="731520" cy="5486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309360" y="46634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W16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040880" y="4663440"/>
            <a:ext cx="5029200" cy="548640"/>
          </a:xfrm>
          <a:prstGeom prst="rect">
            <a:avLst/>
          </a:prstGeom>
          <a:solidFill>
            <a:srgbClr val="102235"/>
          </a:solidFill>
          <a:ln w="63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178040" y="468172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FF"/>
                </a:solidFill>
              </a:rPr>
              <a:t>Demo Prep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78040" y="4937759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Demo script · evidence compiled · Moodle pack ready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09360" y="5303519"/>
            <a:ext cx="731520" cy="5486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309360" y="5303519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W17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040880" y="5303519"/>
            <a:ext cx="5029200" cy="548640"/>
          </a:xfrm>
          <a:prstGeom prst="rect">
            <a:avLst/>
          </a:prstGeom>
          <a:solidFill>
            <a:srgbClr val="1A1400"/>
          </a:solidFill>
          <a:ln w="63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178040" y="532180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</a:rPr>
              <a:t>✦ FINAL DEMO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78040" y="5577839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Full copilot · 12 queries · hallucination rate · live demo · Moodle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64592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07 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5"/>
                </a:solidFill>
              </a:rPr>
              <a:t>13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Deliverables — Checkpoints &amp; Final Submission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5394960" cy="4754880"/>
          </a:xfrm>
          <a:prstGeom prst="rect">
            <a:avLst/>
          </a:prstGeom>
          <a:solidFill>
            <a:srgbClr val="102235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5394960" cy="4572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58191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✦  WEEK 10 CHECKPOINT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 All 4 specialist agents operational &amp; routing correctly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 AgentField vector memory indexed (runbooks + arch docs)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 Natural-language routing across all 4 domains working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 ≥6 of 12 test queries returning grounded, cited responses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 Unit tests passing for all agent skill functions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 Mid-term documentation submitted on Moodle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554480"/>
            <a:ext cx="5760720" cy="4754880"/>
          </a:xfrm>
          <a:prstGeom prst="rect">
            <a:avLst/>
          </a:prstGeom>
          <a:solidFill>
            <a:srgbClr val="102235"/>
          </a:solidFill>
          <a:ln w="12700">
            <a:solidFill>
              <a:srgbClr val="00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0" y="1554480"/>
            <a:ext cx="5760720" cy="45720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1581912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✦  WEEK 17 FINAL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103120"/>
            <a:ext cx="5577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 Complete copilot: 4 domains, multi-agent orchestration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 All 12 test queries passing with correct routing + citations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 Hallucination rate documented and measured (target &lt;10%)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 Routing accuracy: 100% on all 12 defined test queries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 QA test suite with ≥80% coverage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 Judge Agent producing automated grounding verification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 Live demo recorded and submitted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 All evidence on Moodle (logs, metrics, cost breakdown)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54864" cy="6858000"/>
          </a:xfrm>
          <a:prstGeom prst="rect">
            <a:avLst/>
          </a:prstGeom>
          <a:solidFill>
            <a:srgbClr val="009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5"/>
                </a:solidFill>
              </a:rPr>
              <a:t>14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78992"/>
            <a:ext cx="11457432" cy="1371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" cy="6400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Problem Understanding (15%)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27631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Fragmentation · tribal knowledge · hallucination risk — genuine understanding, not RFP paraphrase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84831"/>
            <a:ext cx="54864" cy="6400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084831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Solution Quality (20%)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32303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5-agent architecture · clear routing flow · Pydantic-typed cited responses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9504"/>
            <a:ext cx="54864" cy="6400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8895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AI Integration Depth (20%)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36976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LLM at routing · per-agent response · embedding search · LLM Judge — AI at every 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94176"/>
            <a:ext cx="54864" cy="6400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6941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QA Strategy (15%)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4164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12 test queries · routing accuracy · hallucination rate · Judge Agent · ≥80% coverage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98848"/>
            <a:ext cx="54864" cy="6400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4988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Budget &amp; Cost (15%)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846320"/>
            <a:ext cx="10789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B0BEC5"/>
                </a:solidFill>
              </a:rPr>
              <a:t>₹</a:t>
            </a:r>
            <a:r>
              <a:rPr lang="en-IN" sz="1000" dirty="0">
                <a:solidFill>
                  <a:srgbClr val="B0BEC5"/>
                </a:solidFill>
              </a:rPr>
              <a:t>2500</a:t>
            </a:r>
            <a:r>
              <a:rPr sz="1000" b="0" i="0" dirty="0">
                <a:solidFill>
                  <a:srgbClr val="B0BEC5"/>
                </a:solidFill>
              </a:rPr>
              <a:t> of ₹2,500 — all tools on free tiers · full buffer retained as safety margin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03520"/>
            <a:ext cx="54864" cy="6400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3035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Timeline Feasibility (15%)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65099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Week-by-week milestones · 2 formal checkpoints at Week 10 &amp; Week 17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263640"/>
            <a:ext cx="1124712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35508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B0BEC5"/>
                </a:solidFill>
              </a:rPr>
              <a:t>PsiogCopilot  ·  Built on AgentField  ·  Gemini 2.5 Flash via OpenRouter  ·  Submitted by Sridhar Vetrivel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1834</Words>
  <Application>Microsoft Office PowerPoint</Application>
  <PresentationFormat>Custom</PresentationFormat>
  <Paragraphs>326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Sridhar Vetrivel</cp:lastModifiedBy>
  <cp:revision>3</cp:revision>
  <dcterms:created xsi:type="dcterms:W3CDTF">2013-01-27T09:14:16Z</dcterms:created>
  <dcterms:modified xsi:type="dcterms:W3CDTF">2026-05-19T08:49:31Z</dcterms:modified>
  <cp:category/>
</cp:coreProperties>
</file>