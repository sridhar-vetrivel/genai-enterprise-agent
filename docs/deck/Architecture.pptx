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4">
  <p:sldMasterIdLst>
    <p:sldMasterId id="2147483648" r:id="rId4"/>
  </p:sldMasterIdLst>
  <p:notesMasterIdLst>
    <p:notesMasterId r:id="rId13"/>
  </p:notesMasterIdLst>
  <p:sldIdLst>
    <p:sldId id="1359443" r:id="rId7"/>
    <p:sldId id="135944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7B9A24-1FC8-1D76-391A-173325328625}" name="Aditya Manthena" initials="AM" userId="S::aditya.manthena@psiog.com::0b87e450-5e44-4cd3-aebd-c1a25a66c2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E91"/>
    <a:srgbClr val="6AD9DC"/>
    <a:srgbClr val="2DB6BB"/>
    <a:srgbClr val="7CDEE0"/>
    <a:srgbClr val="DDFABE"/>
    <a:srgbClr val="DDF6F7"/>
    <a:srgbClr val="59CB64"/>
    <a:srgbClr val="726C6C"/>
    <a:srgbClr val="BEEFF0"/>
    <a:srgbClr val="F09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9F12-2CB7-8F2F-F67A-BE320314DDD9}" v="122" dt="2025-03-10T10:11:15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15" Type="http://schemas.openxmlformats.org/officeDocument/2006/relationships/viewProps" Target="viewProps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14" Type="http://schemas.openxmlformats.org/officeDocument/2006/relationships/presProps" Target="presProps.xml"/>  <Relationship Id="rId20" Type="http://schemas.openxmlformats.org/officeDocument/2006/relationships/slide" Target="slides/slide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D88B4-EC88-419C-9C7F-4190E1D90D5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9B2E0-7CDC-44AD-B859-109752210CD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EF38-BCC4-4DB4-8006-7242EDF0AA54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9734-26B0-44FC-910E-DC835396DF90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D3C1-BA39-4E76-A653-9247F65BB297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EE36-EDE3-4DC0-8F92-80AC6C348809}" type="datetime1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B11-3202-4A77-9B9E-06D8DA216472}" type="datetime1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4C48-E234-4504-A18C-8880CF66C8BA}" type="datetime1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C3B6-3A3F-46C1-AE6D-C6F798FDCBC2}" type="datetime1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0807-197F-4F9E-A0A0-F82704CF2A2E}" type="datetime1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460-24FF-41EE-B916-7AFF089965AC}" type="datetime1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BE5D-6372-464B-BCE6-2C2018A96161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ADDF-8844-4B12-851D-9922200F89CC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2F9B7-D24E-42A1-8420-CE33906B3FB8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Picture 6"/>
          <p:cNvPicPr>
            <a:picLocks noChangeAspect="1"/>
          </p:cNvPicPr>
          <p:nvPr userDrawn="1"/>
        </p:nvPicPr>
        <p:blipFill rotWithShape="1">
          <a:blip r:embed="rId13" cstate="email"/>
          <a:srcRect/>
          <a:stretch>
            <a:fillRect/>
          </a:stretch>
        </p:blipFill>
        <p:spPr>
          <a:xfrm>
            <a:off x="0" y="6368764"/>
            <a:ext cx="361012" cy="3777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 cstate="email">
            <a:alphaModFix amt="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519746" y="2707292"/>
            <a:ext cx="5152516" cy="1457277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 rot="10800000">
            <a:off x="0" y="6736937"/>
            <a:ext cx="12192000" cy="121063"/>
            <a:chOff x="71284" y="-5188"/>
            <a:chExt cx="12192000" cy="121063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rgbClr val="E5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807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750"/>
            <a:ext cx="12192000" cy="121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3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Production</a:t>
            </a:r>
          </a:p>
        </p:txBody>
      </p:sp>
      <p:sp>
        <p:nvSpPr>
          <p:cNvPr id="3001" name="Box 3001"/>
          <p:cNvSpPr/>
          <p:nvPr/>
        </p:nvSpPr>
        <p:spPr>
          <a:xfrm>
            <a:off x="411480" y="914400"/>
            <a:ext cx="9006840" cy="502920"/>
          </a:xfrm>
          <a:prstGeom prst="roundRect">
            <a:avLst>
              <a:gd name="adj" fmla="val 6000"/>
            </a:avLst>
          </a:prstGeom>
          <a:solidFill>
            <a:srgbClr val="dbe4ff"/>
          </a:solidFill>
          <a:ln w="19050">
            <a:solidFill>
              <a:srgbClr val="1971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2" name="Label 3002"/>
          <p:cNvSpPr txBox="1"/>
          <p:nvPr/>
        </p:nvSpPr>
        <p:spPr>
          <a:xfrm>
            <a:off x="484632" y="914400"/>
            <a:ext cx="8860536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1971c2"/>
                </a:solidFill>
                <a:latin typeface="Calibri"/>
              </a:rPr>
              <a:t>CLIENT / ACCESS LAYER</a:t>
            </a:r>
          </a:p>
        </p:txBody>
      </p:sp>
      <p:cxnSp>
        <p:nvCxnSpPr>
          <p:cNvPr id="3003" name="Arrow 3004"/>
          <p:cNvCxnSpPr/>
          <p:nvPr/>
        </p:nvCxnSpPr>
        <p:spPr>
          <a:xfrm flipH="0" flipV="0">
            <a:off x="4914900" y="1417320"/>
            <a:ext cx="0" cy="237744"/>
          </a:xfrm>
          <a:prstGeom prst="line">
            <a:avLst/>
          </a:prstGeom>
          <a:ln w="15875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5" name="Box 3005"/>
          <p:cNvSpPr/>
          <p:nvPr/>
        </p:nvSpPr>
        <p:spPr>
          <a:xfrm>
            <a:off x="411480" y="1655064"/>
            <a:ext cx="9006840" cy="502920"/>
          </a:xfrm>
          <a:prstGeom prst="roundRect">
            <a:avLst>
              <a:gd name="adj" fmla="val 6000"/>
            </a:avLst>
          </a:prstGeom>
          <a:solidFill>
            <a:srgbClr val="f3f0ff"/>
          </a:solidFill>
          <a:ln w="19050">
            <a:solidFill>
              <a:srgbClr val="5f3d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6" name="Label 3006"/>
          <p:cNvSpPr txBox="1"/>
          <p:nvPr/>
        </p:nvSpPr>
        <p:spPr>
          <a:xfrm>
            <a:off x="484632" y="1655064"/>
            <a:ext cx="8860536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5f3dc4"/>
                </a:solidFill>
                <a:latin typeface="Calibri"/>
              </a:rPr>
              <a:t>API GATEWAY  +  SEMANTIC CACHE</a:t>
            </a:r>
          </a:p>
        </p:txBody>
      </p:sp>
      <p:cxnSp>
        <p:nvCxnSpPr>
          <p:cNvPr id="3007" name="Arrow 3008"/>
          <p:cNvCxnSpPr/>
          <p:nvPr/>
        </p:nvCxnSpPr>
        <p:spPr>
          <a:xfrm flipH="0" flipV="0">
            <a:off x="4914900" y="2157984"/>
            <a:ext cx="0" cy="237744"/>
          </a:xfrm>
          <a:prstGeom prst="line">
            <a:avLst/>
          </a:prstGeom>
          <a:ln w="15875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9" name="Box 3009"/>
          <p:cNvSpPr/>
          <p:nvPr/>
        </p:nvSpPr>
        <p:spPr>
          <a:xfrm>
            <a:off x="640080" y="2706624"/>
            <a:ext cx="8549640" cy="502920"/>
          </a:xfrm>
          <a:prstGeom prst="roundRect">
            <a:avLst>
              <a:gd name="adj" fmla="val 6000"/>
            </a:avLst>
          </a:prstGeom>
          <a:solidFill>
            <a:srgbClr val="e7edff"/>
          </a:solidFill>
          <a:ln w="19050">
            <a:solidFill>
              <a:srgbClr val="3b5b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0" name="Label 3010"/>
          <p:cNvSpPr txBox="1"/>
          <p:nvPr/>
        </p:nvSpPr>
        <p:spPr>
          <a:xfrm>
            <a:off x="713232" y="2706624"/>
            <a:ext cx="8403336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3b5bdb"/>
                </a:solidFill>
                <a:latin typeface="Calibri"/>
              </a:rPr>
              <a:t>COORDINATOR AGENT</a:t>
            </a:r>
          </a:p>
        </p:txBody>
      </p:sp>
      <p:cxnSp>
        <p:nvCxnSpPr>
          <p:cNvPr id="3011" name="Fan 3012"/>
          <p:cNvCxnSpPr/>
          <p:nvPr/>
        </p:nvCxnSpPr>
        <p:spPr>
          <a:xfrm flipH="1" flipV="0">
            <a:off x="1708785" y="3209544"/>
            <a:ext cx="3206115" cy="219456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3" name="Fan 3014"/>
          <p:cNvCxnSpPr/>
          <p:nvPr/>
        </p:nvCxnSpPr>
        <p:spPr>
          <a:xfrm flipH="1" flipV="0">
            <a:off x="3846195" y="3209544"/>
            <a:ext cx="1068705" cy="219456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5" name="Fan 3016"/>
          <p:cNvCxnSpPr/>
          <p:nvPr/>
        </p:nvCxnSpPr>
        <p:spPr>
          <a:xfrm flipH="0" flipV="0">
            <a:off x="4914900" y="3209544"/>
            <a:ext cx="1068705" cy="219456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7" name="Fan 3018"/>
          <p:cNvCxnSpPr/>
          <p:nvPr/>
        </p:nvCxnSpPr>
        <p:spPr>
          <a:xfrm flipH="0" flipV="0">
            <a:off x="4914900" y="3209544"/>
            <a:ext cx="3206115" cy="219456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9" name="Box 3019"/>
          <p:cNvSpPr/>
          <p:nvPr/>
        </p:nvSpPr>
        <p:spPr>
          <a:xfrm>
            <a:off x="640080" y="3429000"/>
            <a:ext cx="200025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0" name="Label 3020"/>
          <p:cNvSpPr txBox="1"/>
          <p:nvPr/>
        </p:nvSpPr>
        <p:spPr>
          <a:xfrm>
            <a:off x="713232" y="3429000"/>
            <a:ext cx="185394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DATA AGENT</a:t>
            </a:r>
          </a:p>
        </p:txBody>
      </p:sp>
      <p:sp>
        <p:nvSpPr>
          <p:cNvPr id="3021" name="Box 3021"/>
          <p:cNvSpPr/>
          <p:nvPr/>
        </p:nvSpPr>
        <p:spPr>
          <a:xfrm>
            <a:off x="2823210" y="3429000"/>
            <a:ext cx="200025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2" name="Label 3022"/>
          <p:cNvSpPr txBox="1"/>
          <p:nvPr/>
        </p:nvSpPr>
        <p:spPr>
          <a:xfrm>
            <a:off x="2896362" y="3429000"/>
            <a:ext cx="185394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DEVOPS AGENT</a:t>
            </a:r>
          </a:p>
        </p:txBody>
      </p:sp>
      <p:sp>
        <p:nvSpPr>
          <p:cNvPr id="3023" name="Box 3023"/>
          <p:cNvSpPr/>
          <p:nvPr/>
        </p:nvSpPr>
        <p:spPr>
          <a:xfrm>
            <a:off x="5006340" y="3429000"/>
            <a:ext cx="200025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4" name="Label 3024"/>
          <p:cNvSpPr txBox="1"/>
          <p:nvPr/>
        </p:nvSpPr>
        <p:spPr>
          <a:xfrm>
            <a:off x="5079492" y="3429000"/>
            <a:ext cx="185394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CRM AGENT</a:t>
            </a:r>
          </a:p>
        </p:txBody>
      </p:sp>
      <p:sp>
        <p:nvSpPr>
          <p:cNvPr id="3025" name="Box 3025"/>
          <p:cNvSpPr/>
          <p:nvPr/>
        </p:nvSpPr>
        <p:spPr>
          <a:xfrm>
            <a:off x="7189470" y="3429000"/>
            <a:ext cx="200025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6" name="Label 3026"/>
          <p:cNvSpPr txBox="1"/>
          <p:nvPr/>
        </p:nvSpPr>
        <p:spPr>
          <a:xfrm>
            <a:off x="7262622" y="3429000"/>
            <a:ext cx="185394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DOCS / RAG AGENT</a:t>
            </a:r>
          </a:p>
        </p:txBody>
      </p:sp>
      <p:sp>
        <p:nvSpPr>
          <p:cNvPr id="3027" name="Outer 3028"/>
          <p:cNvSpPr/>
          <p:nvPr/>
        </p:nvSpPr>
        <p:spPr>
          <a:xfrm>
            <a:off x="411480" y="2395728"/>
            <a:ext cx="9006840" cy="1792224"/>
          </a:xfrm>
          <a:prstGeom prst="rect">
            <a:avLst/>
          </a:prstGeom>
          <a:noFill/>
          <a:ln w="19050">
            <a:solidFill>
              <a:srgbClr val="2b8a3e"/>
            </a:solidFill>
          </a:ln>
        </p:spPr>
        <p:txBody>
          <a:bodyPr rtlCol="0"/>
          <a:lstStyle/>
          <a:p/>
        </p:txBody>
      </p:sp>
      <p:sp>
        <p:nvSpPr>
          <p:cNvPr id="3029" name="OuterLabel 3030"/>
          <p:cNvSpPr txBox="1"/>
          <p:nvPr/>
        </p:nvSpPr>
        <p:spPr>
          <a:xfrm>
            <a:off x="411480" y="2404872"/>
            <a:ext cx="9006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b8a3e"/>
                </a:solidFill>
                <a:latin typeface="Calibri"/>
              </a:rPr>
              <a:t>ORCHESTRATION CONTROL PLANE</a:t>
            </a:r>
          </a:p>
        </p:txBody>
      </p:sp>
      <p:sp>
        <p:nvSpPr>
          <p:cNvPr id="3031" name="Box 3031"/>
          <p:cNvSpPr/>
          <p:nvPr/>
        </p:nvSpPr>
        <p:spPr>
          <a:xfrm>
            <a:off x="411480" y="4416552"/>
            <a:ext cx="9006840" cy="502920"/>
          </a:xfrm>
          <a:prstGeom prst="roundRect">
            <a:avLst>
              <a:gd name="adj" fmla="val 6000"/>
            </a:avLst>
          </a:prstGeom>
          <a:solidFill>
            <a:srgbClr val="f8f0fc"/>
          </a:solidFill>
          <a:ln w="19050">
            <a:solidFill>
              <a:srgbClr val="9c36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2" name="Label 3032"/>
          <p:cNvSpPr txBox="1"/>
          <p:nvPr/>
        </p:nvSpPr>
        <p:spPr>
          <a:xfrm>
            <a:off x="484632" y="4416552"/>
            <a:ext cx="8860536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9c36b5"/>
                </a:solidFill>
                <a:latin typeface="Calibri"/>
              </a:rPr>
              <a:t>KNOWLEDGE &amp; RETRIEVAL LAYER</a:t>
            </a:r>
          </a:p>
        </p:txBody>
      </p:sp>
      <p:cxnSp>
        <p:nvCxnSpPr>
          <p:cNvPr id="3033" name="Arrow 3034"/>
          <p:cNvCxnSpPr/>
          <p:nvPr/>
        </p:nvCxnSpPr>
        <p:spPr>
          <a:xfrm flipH="0" flipV="0">
            <a:off x="4914900" y="4919472"/>
            <a:ext cx="0" cy="237744"/>
          </a:xfrm>
          <a:prstGeom prst="line">
            <a:avLst/>
          </a:prstGeom>
          <a:ln w="15875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5" name="Box 3035"/>
          <p:cNvSpPr/>
          <p:nvPr/>
        </p:nvSpPr>
        <p:spPr>
          <a:xfrm>
            <a:off x="411480" y="5157216"/>
            <a:ext cx="2114550" cy="640080"/>
          </a:xfrm>
          <a:prstGeom prst="roundRect">
            <a:avLst>
              <a:gd name="adj" fmla="val 6000"/>
            </a:avLst>
          </a:prstGeom>
          <a:solidFill>
            <a:srgbClr val="fff9db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6" name="Label 3036"/>
          <p:cNvSpPr txBox="1"/>
          <p:nvPr/>
        </p:nvSpPr>
        <p:spPr>
          <a:xfrm>
            <a:off x="484632" y="5157216"/>
            <a:ext cx="196824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00" b="1" i="0">
                <a:solidFill>
                  <a:srgbClr val="e67700"/>
                </a:solidFill>
                <a:latin typeface="Calibri"/>
              </a:rPr>
              <a:t>DATABRICKS</a:t>
            </a:r>
          </a:p>
        </p:txBody>
      </p:sp>
      <p:sp>
        <p:nvSpPr>
          <p:cNvPr id="3037" name="Box 3037"/>
          <p:cNvSpPr/>
          <p:nvPr/>
        </p:nvSpPr>
        <p:spPr>
          <a:xfrm>
            <a:off x="2708910" y="5157216"/>
            <a:ext cx="2114550" cy="640080"/>
          </a:xfrm>
          <a:prstGeom prst="roundRect">
            <a:avLst>
              <a:gd name="adj" fmla="val 6000"/>
            </a:avLst>
          </a:prstGeom>
          <a:solidFill>
            <a:srgbClr val="fff9db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8" name="Label 3038"/>
          <p:cNvSpPr txBox="1"/>
          <p:nvPr/>
        </p:nvSpPr>
        <p:spPr>
          <a:xfrm>
            <a:off x="2782062" y="5157216"/>
            <a:ext cx="196824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00" b="1" i="0">
                <a:solidFill>
                  <a:srgbClr val="e67700"/>
                </a:solidFill>
                <a:latin typeface="Calibri"/>
              </a:rPr>
              <a:t>GITHUB / AZURE DEVOPS</a:t>
            </a:r>
          </a:p>
        </p:txBody>
      </p:sp>
      <p:sp>
        <p:nvSpPr>
          <p:cNvPr id="3039" name="Box 3039"/>
          <p:cNvSpPr/>
          <p:nvPr/>
        </p:nvSpPr>
        <p:spPr>
          <a:xfrm>
            <a:off x="5006340" y="5157216"/>
            <a:ext cx="2114550" cy="640080"/>
          </a:xfrm>
          <a:prstGeom prst="roundRect">
            <a:avLst>
              <a:gd name="adj" fmla="val 6000"/>
            </a:avLst>
          </a:prstGeom>
          <a:solidFill>
            <a:srgbClr val="fff9db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0" name="Label 3040"/>
          <p:cNvSpPr txBox="1"/>
          <p:nvPr/>
        </p:nvSpPr>
        <p:spPr>
          <a:xfrm>
            <a:off x="5079492" y="5157216"/>
            <a:ext cx="196824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00" b="1" i="0">
                <a:solidFill>
                  <a:srgbClr val="e67700"/>
                </a:solidFill>
                <a:latin typeface="Calibri"/>
              </a:rPr>
              <a:t>CRM (SALESFORCE / DYNAMICS)</a:t>
            </a:r>
          </a:p>
        </p:txBody>
      </p:sp>
      <p:sp>
        <p:nvSpPr>
          <p:cNvPr id="3041" name="Box 3041"/>
          <p:cNvSpPr/>
          <p:nvPr/>
        </p:nvSpPr>
        <p:spPr>
          <a:xfrm>
            <a:off x="7303770" y="5157216"/>
            <a:ext cx="2114550" cy="64008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9050" prstDash="dash">
            <a:solidFill>
              <a:srgbClr val="c92a2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2" name="Label 3042"/>
          <p:cNvSpPr txBox="1"/>
          <p:nvPr/>
        </p:nvSpPr>
        <p:spPr>
          <a:xfrm>
            <a:off x="7376922" y="5157216"/>
            <a:ext cx="196824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00" b="1" i="0">
                <a:solidFill>
                  <a:srgbClr val="c92a2a"/>
                </a:solidFill>
                <a:latin typeface="Calibri"/>
              </a:rPr>
              <a:t>MODEL SERVING LAYER</a:t>
            </a:r>
          </a:p>
        </p:txBody>
      </p:sp>
      <p:sp>
        <p:nvSpPr>
          <p:cNvPr id="3043" name="Sidebar 3044"/>
          <p:cNvSpPr/>
          <p:nvPr/>
        </p:nvSpPr>
        <p:spPr>
          <a:xfrm>
            <a:off x="9646920" y="2395728"/>
            <a:ext cx="2148840" cy="3401568"/>
          </a:xfrm>
          <a:prstGeom prst="rect">
            <a:avLst/>
          </a:prstGeom>
          <a:noFill/>
          <a:ln w="19050">
            <a:solidFill>
              <a:srgbClr val="495057"/>
            </a:solidFill>
          </a:ln>
        </p:spPr>
        <p:txBody>
          <a:bodyPr rtlCol="0"/>
          <a:lstStyle/>
          <a:p/>
        </p:txBody>
      </p:sp>
      <p:sp>
        <p:nvSpPr>
          <p:cNvPr id="3045" name="SidebarLabel 3046"/>
          <p:cNvSpPr txBox="1"/>
          <p:nvPr/>
        </p:nvSpPr>
        <p:spPr>
          <a:xfrm>
            <a:off x="9646920" y="244144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200" b="1" i="0">
                <a:solidFill>
                  <a:srgbClr val="495057"/>
                </a:solidFill>
                <a:latin typeface="Calibri"/>
              </a:rPr>
              <a:t>CROSS-CUTTING</a:t>
            </a:r>
          </a:p>
        </p:txBody>
      </p:sp>
      <p:sp>
        <p:nvSpPr>
          <p:cNvPr id="3047" name="SideBox 3047"/>
          <p:cNvSpPr/>
          <p:nvPr/>
        </p:nvSpPr>
        <p:spPr>
          <a:xfrm>
            <a:off x="9756648" y="2862072"/>
            <a:ext cx="1929384" cy="6377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71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8" name="SideLbl 3049"/>
          <p:cNvSpPr txBox="1"/>
          <p:nvPr/>
        </p:nvSpPr>
        <p:spPr>
          <a:xfrm>
            <a:off x="9756648" y="2862072"/>
            <a:ext cx="1929384" cy="63779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1971c2"/>
                </a:solidFill>
                <a:latin typeface="Calibri"/>
              </a:rPr>
              <a:t>OBSERVABILITY</a:t>
            </a:r>
          </a:p>
        </p:txBody>
      </p:sp>
      <p:sp>
        <p:nvSpPr>
          <p:cNvPr id="3050" name="SideBox 3050"/>
          <p:cNvSpPr/>
          <p:nvPr/>
        </p:nvSpPr>
        <p:spPr>
          <a:xfrm>
            <a:off x="9756648" y="3609594"/>
            <a:ext cx="1929384" cy="6377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2a2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1" name="SideLbl 3052"/>
          <p:cNvSpPr txBox="1"/>
          <p:nvPr/>
        </p:nvSpPr>
        <p:spPr>
          <a:xfrm>
            <a:off x="9756648" y="3609594"/>
            <a:ext cx="1929384" cy="63779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c92a2a"/>
                </a:solidFill>
                <a:latin typeface="Calibri"/>
              </a:rPr>
              <a:t>SECURITY</a:t>
            </a:r>
          </a:p>
        </p:txBody>
      </p:sp>
      <p:sp>
        <p:nvSpPr>
          <p:cNvPr id="3053" name="SideBox 3053"/>
          <p:cNvSpPr/>
          <p:nvPr/>
        </p:nvSpPr>
        <p:spPr>
          <a:xfrm>
            <a:off x="9756648" y="4357116"/>
            <a:ext cx="1929384" cy="6377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b8a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4" name="SideLbl 3055"/>
          <p:cNvSpPr txBox="1"/>
          <p:nvPr/>
        </p:nvSpPr>
        <p:spPr>
          <a:xfrm>
            <a:off x="9756648" y="4357116"/>
            <a:ext cx="1929384" cy="63779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2b8a3e"/>
                </a:solidFill>
                <a:latin typeface="Calibri"/>
              </a:rPr>
              <a:t>CONTINUOUS QA</a:t>
            </a:r>
          </a:p>
        </p:txBody>
      </p:sp>
      <p:sp>
        <p:nvSpPr>
          <p:cNvPr id="3056" name="SideBox 3056"/>
          <p:cNvSpPr/>
          <p:nvPr/>
        </p:nvSpPr>
        <p:spPr>
          <a:xfrm>
            <a:off x="9756648" y="5104638"/>
            <a:ext cx="1929384" cy="6377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7" name="SideLbl 3058"/>
          <p:cNvSpPr txBox="1"/>
          <p:nvPr/>
        </p:nvSpPr>
        <p:spPr>
          <a:xfrm>
            <a:off x="9756648" y="5104638"/>
            <a:ext cx="1929384" cy="63779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e67700"/>
                </a:solidFill>
                <a:latin typeface="Calibri"/>
              </a:rPr>
              <a:t>COST GOVERNANCE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3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Dev — What We Built</a:t>
            </a:r>
          </a:p>
        </p:txBody>
      </p:sp>
      <p:sp>
        <p:nvSpPr>
          <p:cNvPr id="3059" name="Box 3059"/>
          <p:cNvSpPr/>
          <p:nvPr/>
        </p:nvSpPr>
        <p:spPr>
          <a:xfrm>
            <a:off x="548640" y="91440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dbe4ff"/>
          </a:solidFill>
          <a:ln w="19050">
            <a:solidFill>
              <a:srgbClr val="1971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0" name="Label 3060"/>
          <p:cNvSpPr txBox="1"/>
          <p:nvPr/>
        </p:nvSpPr>
        <p:spPr>
          <a:xfrm>
            <a:off x="621792" y="914400"/>
            <a:ext cx="10917936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1971c2"/>
                </a:solidFill>
                <a:latin typeface="Calibri"/>
              </a:rPr>
              <a:t>USER INTERFACE LAYER</a:t>
            </a:r>
          </a:p>
        </p:txBody>
      </p:sp>
      <p:cxnSp>
        <p:nvCxnSpPr>
          <p:cNvPr id="3061" name="Arrow 3062"/>
          <p:cNvCxnSpPr/>
          <p:nvPr/>
        </p:nvCxnSpPr>
        <p:spPr>
          <a:xfrm flipH="0" flipV="0">
            <a:off x="6080760" y="1417320"/>
            <a:ext cx="0" cy="256032"/>
          </a:xfrm>
          <a:prstGeom prst="line">
            <a:avLst/>
          </a:prstGeom>
          <a:ln w="15875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3" name="Box 3063"/>
          <p:cNvSpPr/>
          <p:nvPr/>
        </p:nvSpPr>
        <p:spPr>
          <a:xfrm>
            <a:off x="777240" y="1984248"/>
            <a:ext cx="10607040" cy="502920"/>
          </a:xfrm>
          <a:prstGeom prst="roundRect">
            <a:avLst>
              <a:gd name="adj" fmla="val 6000"/>
            </a:avLst>
          </a:prstGeom>
          <a:solidFill>
            <a:srgbClr val="e7edff"/>
          </a:solidFill>
          <a:ln w="19050">
            <a:solidFill>
              <a:srgbClr val="3b5b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4" name="Label 3064"/>
          <p:cNvSpPr txBox="1"/>
          <p:nvPr/>
        </p:nvSpPr>
        <p:spPr>
          <a:xfrm>
            <a:off x="850392" y="1984248"/>
            <a:ext cx="10460736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3b5bdb"/>
                </a:solidFill>
                <a:latin typeface="Calibri"/>
              </a:rPr>
              <a:t>COORDINATOR AGENT</a:t>
            </a:r>
          </a:p>
        </p:txBody>
      </p:sp>
      <p:cxnSp>
        <p:nvCxnSpPr>
          <p:cNvPr id="3065" name="Fan 3066"/>
          <p:cNvCxnSpPr/>
          <p:nvPr/>
        </p:nvCxnSpPr>
        <p:spPr>
          <a:xfrm flipH="1" flipV="0">
            <a:off x="2103120" y="2487168"/>
            <a:ext cx="3977640" cy="237744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7" name="Fan 3068"/>
          <p:cNvCxnSpPr/>
          <p:nvPr/>
        </p:nvCxnSpPr>
        <p:spPr>
          <a:xfrm flipH="1" flipV="0">
            <a:off x="4754880" y="2487168"/>
            <a:ext cx="1325880" cy="237744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9" name="Fan 3070"/>
          <p:cNvCxnSpPr/>
          <p:nvPr/>
        </p:nvCxnSpPr>
        <p:spPr>
          <a:xfrm flipH="0" flipV="0">
            <a:off x="6080760" y="2487168"/>
            <a:ext cx="1325880" cy="237744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1" name="Fan 3072"/>
          <p:cNvCxnSpPr/>
          <p:nvPr/>
        </p:nvCxnSpPr>
        <p:spPr>
          <a:xfrm flipH="0" flipV="0">
            <a:off x="6080760" y="2487168"/>
            <a:ext cx="3977640" cy="237744"/>
          </a:xfrm>
          <a:prstGeom prst="line">
            <a:avLst/>
          </a:prstGeom>
          <a:ln w="15875">
            <a:solidFill>
              <a:srgbClr val="3b5b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3" name="Box 3073"/>
          <p:cNvSpPr/>
          <p:nvPr/>
        </p:nvSpPr>
        <p:spPr>
          <a:xfrm>
            <a:off x="777240" y="2724912"/>
            <a:ext cx="251460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4" name="Label 3074"/>
          <p:cNvSpPr txBox="1"/>
          <p:nvPr/>
        </p:nvSpPr>
        <p:spPr>
          <a:xfrm>
            <a:off x="850392" y="2724912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DATA AGENT</a:t>
            </a:r>
          </a:p>
        </p:txBody>
      </p:sp>
      <p:sp>
        <p:nvSpPr>
          <p:cNvPr id="3075" name="Box 3075"/>
          <p:cNvSpPr/>
          <p:nvPr/>
        </p:nvSpPr>
        <p:spPr>
          <a:xfrm>
            <a:off x="3474720" y="2724912"/>
            <a:ext cx="251460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6" name="Label 3076"/>
          <p:cNvSpPr txBox="1"/>
          <p:nvPr/>
        </p:nvSpPr>
        <p:spPr>
          <a:xfrm>
            <a:off x="3547872" y="2724912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DEVOPS AGENT</a:t>
            </a:r>
          </a:p>
        </p:txBody>
      </p:sp>
      <p:sp>
        <p:nvSpPr>
          <p:cNvPr id="3077" name="Box 3077"/>
          <p:cNvSpPr/>
          <p:nvPr/>
        </p:nvSpPr>
        <p:spPr>
          <a:xfrm>
            <a:off x="6172200" y="2724912"/>
            <a:ext cx="251460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8" name="Label 3078"/>
          <p:cNvSpPr txBox="1"/>
          <p:nvPr/>
        </p:nvSpPr>
        <p:spPr>
          <a:xfrm>
            <a:off x="6245352" y="2724912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CRM AGENT</a:t>
            </a:r>
          </a:p>
        </p:txBody>
      </p:sp>
      <p:sp>
        <p:nvSpPr>
          <p:cNvPr id="3079" name="Box 3079"/>
          <p:cNvSpPr/>
          <p:nvPr/>
        </p:nvSpPr>
        <p:spPr>
          <a:xfrm>
            <a:off x="8869680" y="2724912"/>
            <a:ext cx="2514600" cy="594360"/>
          </a:xfrm>
          <a:prstGeom prst="roundRect">
            <a:avLst>
              <a:gd name="adj" fmla="val 6000"/>
            </a:avLst>
          </a:prstGeom>
          <a:solidFill>
            <a:srgbClr val="e3fafc"/>
          </a:solidFill>
          <a:ln w="19050">
            <a:solidFill>
              <a:srgbClr val="0c85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0" name="Label 3080"/>
          <p:cNvSpPr txBox="1"/>
          <p:nvPr/>
        </p:nvSpPr>
        <p:spPr>
          <a:xfrm>
            <a:off x="8942832" y="2724912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150" b="1" i="0">
                <a:solidFill>
                  <a:srgbClr val="0c8599"/>
                </a:solidFill>
                <a:latin typeface="Calibri"/>
              </a:rPr>
              <a:t>DOCS AGENT</a:t>
            </a:r>
          </a:p>
        </p:txBody>
      </p:sp>
      <p:cxnSp>
        <p:nvCxnSpPr>
          <p:cNvPr id="3083" name="MemDrop 3084"/>
          <p:cNvCxnSpPr/>
          <p:nvPr/>
        </p:nvCxnSpPr>
        <p:spPr>
          <a:xfrm flipH="0" flipV="0">
            <a:off x="2103120" y="3319272"/>
            <a:ext cx="0" cy="219456"/>
          </a:xfrm>
          <a:prstGeom prst="line">
            <a:avLst/>
          </a:prstGeom>
          <a:ln w="15875" prstDash="dash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5" name="MemDrop 3086"/>
          <p:cNvCxnSpPr/>
          <p:nvPr/>
        </p:nvCxnSpPr>
        <p:spPr>
          <a:xfrm flipH="0" flipV="0">
            <a:off x="4754880" y="3319272"/>
            <a:ext cx="0" cy="219456"/>
          </a:xfrm>
          <a:prstGeom prst="line">
            <a:avLst/>
          </a:prstGeom>
          <a:ln w="15875" prstDash="dash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7" name="MemDrop 3088"/>
          <p:cNvCxnSpPr/>
          <p:nvPr/>
        </p:nvCxnSpPr>
        <p:spPr>
          <a:xfrm flipH="0" flipV="0">
            <a:off x="7406640" y="3319272"/>
            <a:ext cx="0" cy="219456"/>
          </a:xfrm>
          <a:prstGeom prst="line">
            <a:avLst/>
          </a:prstGeom>
          <a:ln w="15875" prstDash="dash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9" name="MemDrop 3090"/>
          <p:cNvCxnSpPr/>
          <p:nvPr/>
        </p:nvCxnSpPr>
        <p:spPr>
          <a:xfrm flipH="0" flipV="0">
            <a:off x="10058400" y="3319272"/>
            <a:ext cx="0" cy="219456"/>
          </a:xfrm>
          <a:prstGeom prst="line">
            <a:avLst/>
          </a:prstGeom>
          <a:ln w="15875" prstDash="dash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1" name="Box 3091"/>
          <p:cNvSpPr/>
          <p:nvPr/>
        </p:nvSpPr>
        <p:spPr>
          <a:xfrm>
            <a:off x="777240" y="3538728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f8f0fc"/>
          </a:solidFill>
          <a:ln w="19050">
            <a:solidFill>
              <a:srgbClr val="9c36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2" name="Label 3092"/>
          <p:cNvSpPr txBox="1"/>
          <p:nvPr/>
        </p:nvSpPr>
        <p:spPr>
          <a:xfrm>
            <a:off x="850392" y="3538728"/>
            <a:ext cx="1046073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200" b="1" i="0">
                <a:solidFill>
                  <a:srgbClr val="9c36b5"/>
                </a:solidFill>
                <a:latin typeface="Calibri"/>
              </a:rPr>
              <a:t>AGENTFIELD MEMORY LAYER</a:t>
            </a:r>
          </a:p>
        </p:txBody>
      </p:sp>
      <p:sp>
        <p:nvSpPr>
          <p:cNvPr id="3093" name="Outer2 3094"/>
          <p:cNvSpPr/>
          <p:nvPr/>
        </p:nvSpPr>
        <p:spPr>
          <a:xfrm>
            <a:off x="548640" y="1673352"/>
            <a:ext cx="11064240" cy="2487168"/>
          </a:xfrm>
          <a:prstGeom prst="rect">
            <a:avLst/>
          </a:prstGeom>
          <a:noFill/>
          <a:ln w="19050">
            <a:solidFill>
              <a:srgbClr val="2b8a3e"/>
            </a:solidFill>
          </a:ln>
        </p:spPr>
        <p:txBody>
          <a:bodyPr rtlCol="0"/>
          <a:lstStyle/>
          <a:p/>
        </p:txBody>
      </p:sp>
      <p:sp>
        <p:nvSpPr>
          <p:cNvPr id="3095" name="OuterLabel2 3096"/>
          <p:cNvSpPr txBox="1"/>
          <p:nvPr/>
        </p:nvSpPr>
        <p:spPr>
          <a:xfrm>
            <a:off x="548640" y="168249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250" b="1" i="0">
                <a:solidFill>
                  <a:srgbClr val="2b8a3e"/>
                </a:solidFill>
                <a:latin typeface="Calibri"/>
              </a:rPr>
              <a:t>AGENTFIELD CONTROL PLANE  ·  Docker Compose  ·  Azure B1s VM</a:t>
            </a:r>
          </a:p>
        </p:txBody>
      </p:sp>
      <p:cxnSp>
        <p:nvCxnSpPr>
          <p:cNvPr id="3097" name="Arrow 3098"/>
          <p:cNvCxnSpPr/>
          <p:nvPr/>
        </p:nvCxnSpPr>
        <p:spPr>
          <a:xfrm flipH="0" flipV="0">
            <a:off x="6080760" y="4416552"/>
            <a:ext cx="0" cy="237744"/>
          </a:xfrm>
          <a:prstGeom prst="line">
            <a:avLst/>
          </a:prstGeom>
          <a:ln w="15875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9" name="Box 3099"/>
          <p:cNvSpPr/>
          <p:nvPr/>
        </p:nvSpPr>
        <p:spPr>
          <a:xfrm>
            <a:off x="548640" y="4654296"/>
            <a:ext cx="2628900" cy="640080"/>
          </a:xfrm>
          <a:prstGeom prst="roundRect">
            <a:avLst>
              <a:gd name="adj" fmla="val 6000"/>
            </a:avLst>
          </a:prstGeom>
          <a:solidFill>
            <a:srgbClr val="fff9db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0" name="Label 3100"/>
          <p:cNvSpPr txBox="1"/>
          <p:nvPr/>
        </p:nvSpPr>
        <p:spPr>
          <a:xfrm>
            <a:off x="621792" y="4654296"/>
            <a:ext cx="24825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e67700"/>
                </a:solidFill>
                <a:latin typeface="Calibri"/>
              </a:rPr>
              <a:t>DATABRICKS FREE EDITION</a:t>
            </a:r>
          </a:p>
        </p:txBody>
      </p:sp>
      <p:sp>
        <p:nvSpPr>
          <p:cNvPr id="3101" name="Box 3101"/>
          <p:cNvSpPr/>
          <p:nvPr/>
        </p:nvSpPr>
        <p:spPr>
          <a:xfrm>
            <a:off x="3360420" y="4654296"/>
            <a:ext cx="2628900" cy="640080"/>
          </a:xfrm>
          <a:prstGeom prst="roundRect">
            <a:avLst>
              <a:gd name="adj" fmla="val 6000"/>
            </a:avLst>
          </a:prstGeom>
          <a:solidFill>
            <a:srgbClr val="fff9db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2" name="Label 3102"/>
          <p:cNvSpPr txBox="1"/>
          <p:nvPr/>
        </p:nvSpPr>
        <p:spPr>
          <a:xfrm>
            <a:off x="3433572" y="4654296"/>
            <a:ext cx="24825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e67700"/>
                </a:solidFill>
                <a:latin typeface="Calibri"/>
              </a:rPr>
              <a:t>GITHUB / AZURE DEVOPS</a:t>
            </a:r>
          </a:p>
        </p:txBody>
      </p:sp>
      <p:sp>
        <p:nvSpPr>
          <p:cNvPr id="3103" name="Box 3103"/>
          <p:cNvSpPr/>
          <p:nvPr/>
        </p:nvSpPr>
        <p:spPr>
          <a:xfrm>
            <a:off x="6172200" y="4654296"/>
            <a:ext cx="2628900" cy="640080"/>
          </a:xfrm>
          <a:prstGeom prst="roundRect">
            <a:avLst>
              <a:gd name="adj" fmla="val 6000"/>
            </a:avLst>
          </a:prstGeom>
          <a:solidFill>
            <a:srgbClr val="fff9db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4" name="Label 3104"/>
          <p:cNvSpPr txBox="1"/>
          <p:nvPr/>
        </p:nvSpPr>
        <p:spPr>
          <a:xfrm>
            <a:off x="6245352" y="4654296"/>
            <a:ext cx="24825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e67700"/>
                </a:solidFill>
                <a:latin typeface="Calibri"/>
              </a:rPr>
              <a:t>CRM SYSTEM (MOCK)</a:t>
            </a:r>
          </a:p>
        </p:txBody>
      </p:sp>
      <p:sp>
        <p:nvSpPr>
          <p:cNvPr id="3105" name="Box 3105"/>
          <p:cNvSpPr/>
          <p:nvPr/>
        </p:nvSpPr>
        <p:spPr>
          <a:xfrm>
            <a:off x="8983980" y="4654296"/>
            <a:ext cx="2628900" cy="640080"/>
          </a:xfrm>
          <a:prstGeom prst="roundRect">
            <a:avLst>
              <a:gd name="adj" fmla="val 6000"/>
            </a:avLst>
          </a:prstGeom>
          <a:solidFill>
            <a:srgbClr val="fff9db"/>
          </a:solidFill>
          <a:ln w="19050">
            <a:solidFill>
              <a:srgbClr val="e677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6" name="Label 3106"/>
          <p:cNvSpPr txBox="1"/>
          <p:nvPr/>
        </p:nvSpPr>
        <p:spPr>
          <a:xfrm>
            <a:off x="9057132" y="4654296"/>
            <a:ext cx="24825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e67700"/>
                </a:solidFill>
                <a:latin typeface="Calibri"/>
              </a:rPr>
              <a:t>LLM INFERENCE (OLLAMA, LOCAL)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675B97AD28E4A84DDD15DAFC4C3BF" ma:contentTypeVersion="15" ma:contentTypeDescription="Create a new document." ma:contentTypeScope="" ma:versionID="34fe4ac9dce90b3ca86d44f51d6b599b">
  <xsd:schema xmlns:xsd="http://www.w3.org/2001/XMLSchema" xmlns:xs="http://www.w3.org/2001/XMLSchema" xmlns:p="http://schemas.microsoft.com/office/2006/metadata/properties" xmlns:ns3="85917f08-b411-4c8c-b73b-478edaa64b5d" xmlns:ns4="8acdb649-c3dc-403e-8f98-6d94a85edfed" targetNamespace="http://schemas.microsoft.com/office/2006/metadata/properties" ma:root="true" ma:fieldsID="32de2392117b035fb8469ae55c5d331a" ns3:_="" ns4:_="">
    <xsd:import namespace="85917f08-b411-4c8c-b73b-478edaa64b5d"/>
    <xsd:import namespace="8acdb649-c3dc-403e-8f98-6d94a85edf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17f08-b411-4c8c-b73b-478edaa64b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db649-c3dc-403e-8f98-6d94a85ed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917f08-b411-4c8c-b73b-478edaa64b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4E5DF6-33F1-4CBE-90C8-28D1C5054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17f08-b411-4c8c-b73b-478edaa64b5d"/>
    <ds:schemaRef ds:uri="8acdb649-c3dc-403e-8f98-6d94a85ed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373FA7-71C7-4D16-9EDE-82A2EECC32F9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85917f08-b411-4c8c-b73b-478edaa64b5d"/>
    <ds:schemaRef ds:uri="http://purl.org/dc/dcmitype/"/>
    <ds:schemaRef ds:uri="http://schemas.microsoft.com/office/2006/metadata/properties"/>
    <ds:schemaRef ds:uri="http://purl.org/dc/elements/1.1/"/>
    <ds:schemaRef ds:uri="8acdb649-c3dc-403e-8f98-6d94a85edfed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DF03512-25DF-493B-9B53-51BE253359E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704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 Menon</dc:creator>
  <cp:lastModifiedBy>Sridhar V</cp:lastModifiedBy>
  <cp:revision>23</cp:revision>
  <dcterms:created xsi:type="dcterms:W3CDTF">2023-06-07T10:10:00Z</dcterms:created>
  <dcterms:modified xsi:type="dcterms:W3CDTF">2026-10-14T06:03:07Z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0x0101004D2675B97AD28E4A84DDD15DAFC4C3BF</vt:lpwstr>
  </property>
  <property fmtid="{D5CDD505-2E9C-101B-9397-08002B2CF9AE}" pid="3" name="ICV">
    <vt:lpwstr>D557ECC3AC674A6CB7A90FDC0A14402D_12</vt:lpwstr>
  </property>
  <property fmtid="{D5CDD505-2E9C-101B-9397-08002B2CF9AE}" pid="4" name="KSOProductBuildVer">
    <vt:lpwstr>1033-12.2.0.16731</vt:lpwstr>
  </property>
  <property fmtid="{D5CDD505-2E9C-101B-9397-08002B2CF9AE}" pid="5" name="MediaServiceImageTags">
    <vt:lpwstr/>
  </property>
  <property fmtid="{D5CDD505-2E9C-101B-9397-08002B2CF9AE}" pid="6" name="Order">
    <vt:r8>4800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