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4">
  <p:sldMasterIdLst>
    <p:sldMasterId id="2147483648" r:id="rId4"/>
  </p:sldMasterIdLst>
  <p:notesMasterIdLst>
    <p:notesMasterId r:id="rId7"/>
  </p:notesMasterIdLst>
  <p:sldIdLst>
    <p:sldId id="1359437" r:id="rId5"/>
    <p:sldId id="1359442" r:id="rId6"/>
    <p:sldId id="1359443" r:id="rId14"/>
    <p:sldId id="1359444" r:id="rId15"/>
    <p:sldId id="1359445" r:id="rId16"/>
    <p:sldId id="1359446" r:id="rId17"/>
    <p:sldId id="1359447" r:id="rId18"/>
    <p:sldId id="1359448" r:id="rId19"/>
    <p:sldId id="1359449" r:id="rId20"/>
    <p:sldId id="1359450" r:id="rId21"/>
    <p:sldId id="135945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7B9A24-1FC8-1D76-391A-173325328625}" name="Aditya Manthena" initials="AM" userId="S::aditya.manthena@psiog.com::0b87e450-5e44-4cd3-aebd-c1a25a66c2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E91"/>
    <a:srgbClr val="6AD9DC"/>
    <a:srgbClr val="2DB6BB"/>
    <a:srgbClr val="7CDEE0"/>
    <a:srgbClr val="DDFABE"/>
    <a:srgbClr val="DDF6F7"/>
    <a:srgbClr val="59CB64"/>
    <a:srgbClr val="726C6C"/>
    <a:srgbClr val="BEEFF0"/>
    <a:srgbClr val="F09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99F12-2CB7-8F2F-F67A-BE320314DDD9}" v="122" dt="2025-03-10T10:11:15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D88B4-EC88-419C-9C7F-4190E1D90D5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9B2E0-7CDC-44AD-B859-109752210CD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EF38-BCC4-4DB4-8006-7242EDF0AA54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9734-26B0-44FC-910E-DC835396DF90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D3C1-BA39-4E76-A653-9247F65BB297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EE36-EDE3-4DC0-8F92-80AC6C348809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B11-3202-4A77-9B9E-06D8DA216472}" type="datetime1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4C48-E234-4504-A18C-8880CF66C8BA}" type="datetime1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C3B6-3A3F-46C1-AE6D-C6F798FDCBC2}" type="datetime1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0807-197F-4F9E-A0A0-F82704CF2A2E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460-24FF-41EE-B916-7AFF089965AC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BE5D-6372-464B-BCE6-2C2018A96161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ADDF-8844-4B12-851D-9922200F89CC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tiff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2F9B7-D24E-42A1-8420-CE33906B3FB8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Picture 6"/>
          <p:cNvPicPr>
            <a:picLocks noChangeAspect="1"/>
          </p:cNvPicPr>
          <p:nvPr userDrawn="1"/>
        </p:nvPicPr>
        <p:blipFill rotWithShape="1">
          <a:blip r:embed="rId13" cstate="email"/>
          <a:srcRect/>
          <a:stretch>
            <a:fillRect/>
          </a:stretch>
        </p:blipFill>
        <p:spPr>
          <a:xfrm>
            <a:off x="0" y="6368764"/>
            <a:ext cx="361012" cy="3777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 cstate="email">
            <a:alphaModFix amt="5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3519746" y="2707292"/>
            <a:ext cx="5152516" cy="1457277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 rot="10800000">
            <a:off x="0" y="6736937"/>
            <a:ext cx="12192000" cy="121063"/>
            <a:chOff x="71284" y="-5188"/>
            <a:chExt cx="12192000" cy="121063"/>
          </a:xfrm>
        </p:grpSpPr>
        <p:sp>
          <p:nvSpPr>
            <p:cNvPr id="13" name="Rectangle 12"/>
            <p:cNvSpPr/>
            <p:nvPr userDrawn="1"/>
          </p:nvSpPr>
          <p:spPr>
            <a:xfrm>
              <a:off x="71284" y="2113"/>
              <a:ext cx="12192000" cy="113762"/>
            </a:xfrm>
            <a:prstGeom prst="rect">
              <a:avLst/>
            </a:prstGeom>
            <a:solidFill>
              <a:srgbClr val="E5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71284" y="-5188"/>
              <a:ext cx="12192000" cy="39872"/>
            </a:xfrm>
            <a:prstGeom prst="rect">
              <a:avLst/>
            </a:prstGeom>
            <a:solidFill>
              <a:srgbClr val="807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750"/>
            <a:ext cx="12192000" cy="121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B8845-D2C5-5536-A8FF-04653E8B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1</a:t>
            </a:fld>
            <a:endParaRPr lang="en-IN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37355-0C3C-64C1-03B7-6C9BAA0F8EF8}"/>
              </a:ext>
            </a:extLst>
          </p:cNvPr>
          <p:cNvSpPr txBox="1"/>
          <p:nvPr/>
        </p:nvSpPr>
        <p:spPr>
          <a:xfrm>
            <a:off x="2995079" y="2463249"/>
            <a:ext cx="62101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1F8E91"/>
                </a:solidFill>
                <a:ea typeface="Calibri"/>
                <a:cs typeface="Calibri"/>
              </a:rPr>
              <a:t>Psiog Kendra</a:t>
            </a:r>
          </a:p>
          <a:p>
            <a:pPr algn="ctr"/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GenAI-Powered Enterprise Copilot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Live Review — RFP S4-I-24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C6A2C-4B51-1564-7104-6C17CD775A20}"/>
              </a:ext>
            </a:extLst>
          </p:cNvPr>
          <p:cNvSpPr txBox="1"/>
          <p:nvPr/>
        </p:nvSpPr>
        <p:spPr>
          <a:xfrm>
            <a:off x="10082596" y="241514"/>
            <a:ext cx="18951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1F8E91"/>
                </a:solidFill>
                <a:ea typeface="Calibri"/>
                <a:cs typeface="Calibri"/>
              </a:rPr>
              <a:t>S4-I-24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372F4-5000-D38D-DB2F-E0411A6A93B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4C02FF-9BCB-7E26-EA32-0FD6756D0DF4}"/>
              </a:ext>
            </a:extLst>
          </p:cNvPr>
          <p:cNvGrpSpPr/>
          <p:nvPr/>
        </p:nvGrpSpPr>
        <p:grpSpPr>
          <a:xfrm rot="2700000">
            <a:off x="10967489" y="2157469"/>
            <a:ext cx="2008299" cy="2041410"/>
            <a:chOff x="10967489" y="2157469"/>
            <a:chExt cx="1316462" cy="132329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39FF88-710F-BA83-9BCF-5D26BDE7127E}"/>
                </a:ext>
              </a:extLst>
            </p:cNvPr>
            <p:cNvSpPr/>
            <p:nvPr/>
          </p:nvSpPr>
          <p:spPr>
            <a:xfrm>
              <a:off x="10967489" y="2195569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solidFill>
              <a:srgbClr val="DCD400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50DFF37D-AE56-1A28-056C-B7BD1B5F56A0}"/>
                </a:ext>
              </a:extLst>
            </p:cNvPr>
            <p:cNvSpPr txBox="1"/>
            <p:nvPr/>
          </p:nvSpPr>
          <p:spPr>
            <a:xfrm>
              <a:off x="10967489" y="2157469"/>
              <a:ext cx="1316462" cy="13232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A553-EC1F-8F54-A819-6EB5A46715E1}"/>
              </a:ext>
            </a:extLst>
          </p:cNvPr>
          <p:cNvGrpSpPr/>
          <p:nvPr/>
        </p:nvGrpSpPr>
        <p:grpSpPr>
          <a:xfrm rot="2700000">
            <a:off x="8699025" y="2147080"/>
            <a:ext cx="2008299" cy="2041410"/>
            <a:chOff x="8699025" y="2147080"/>
            <a:chExt cx="1316462" cy="1323298"/>
          </a:xfrm>
          <a:solidFill>
            <a:srgbClr val="1F8E91"/>
          </a:solidFill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5B957A0-07F7-6F9E-C3B4-088C0B3689E9}"/>
                </a:ext>
              </a:extLst>
            </p:cNvPr>
            <p:cNvSpPr/>
            <p:nvPr/>
          </p:nvSpPr>
          <p:spPr>
            <a:xfrm>
              <a:off x="8699025" y="218518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10561BAC-6CCF-13CB-E5B3-583A63F887D9}"/>
                </a:ext>
              </a:extLst>
            </p:cNvPr>
            <p:cNvSpPr txBox="1"/>
            <p:nvPr/>
          </p:nvSpPr>
          <p:spPr>
            <a:xfrm>
              <a:off x="8699025" y="2147080"/>
              <a:ext cx="1316462" cy="13232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ECA43-30DB-4841-11B6-25BA767A2B0B}"/>
              </a:ext>
            </a:extLst>
          </p:cNvPr>
          <p:cNvGrpSpPr/>
          <p:nvPr/>
        </p:nvGrpSpPr>
        <p:grpSpPr>
          <a:xfrm rot="2700000">
            <a:off x="9987076" y="2167860"/>
            <a:ext cx="2008299" cy="2041410"/>
            <a:chOff x="9987076" y="2167860"/>
            <a:chExt cx="1316462" cy="1323298"/>
          </a:xfrm>
          <a:solidFill>
            <a:srgbClr val="1F8E9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6A6E56D-A13F-2CD9-C7B5-6C9FC55F1A45}"/>
                </a:ext>
              </a:extLst>
            </p:cNvPr>
            <p:cNvSpPr/>
            <p:nvPr/>
          </p:nvSpPr>
          <p:spPr>
            <a:xfrm>
              <a:off x="9987076" y="220596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845BF228-1FAC-F571-C341-A2103AD44EC4}"/>
                </a:ext>
              </a:extLst>
            </p:cNvPr>
            <p:cNvSpPr txBox="1"/>
            <p:nvPr/>
          </p:nvSpPr>
          <p:spPr>
            <a:xfrm>
              <a:off x="9987076" y="2167860"/>
              <a:ext cx="1316462" cy="1323298"/>
            </a:xfrm>
            <a:prstGeom prst="rect">
              <a:avLst/>
            </a:prstGeom>
            <a:solidFill>
              <a:srgbClr val="2DB6BB"/>
            </a:solidFill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8E5D3-2781-4E0C-7785-C8B5368E0FED}"/>
              </a:ext>
            </a:extLst>
          </p:cNvPr>
          <p:cNvGrpSpPr/>
          <p:nvPr/>
        </p:nvGrpSpPr>
        <p:grpSpPr>
          <a:xfrm>
            <a:off x="-262562" y="2213083"/>
            <a:ext cx="525124" cy="2026921"/>
            <a:chOff x="-262562" y="2213083"/>
            <a:chExt cx="207456" cy="800759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F633C376-D099-53BD-AC14-9784BB65FCEE}"/>
                </a:ext>
              </a:extLst>
            </p:cNvPr>
            <p:cNvSpPr/>
            <p:nvPr/>
          </p:nvSpPr>
          <p:spPr>
            <a:xfrm>
              <a:off x="-262562" y="2251183"/>
              <a:ext cx="207456" cy="762659"/>
            </a:xfrm>
            <a:custGeom>
              <a:avLst/>
              <a:gdLst/>
              <a:ahLst/>
              <a:cxnLst/>
              <a:rect l="l" t="t" r="r" b="b"/>
              <a:pathLst>
                <a:path w="207456" h="762659">
                  <a:moveTo>
                    <a:pt x="0" y="0"/>
                  </a:moveTo>
                  <a:lnTo>
                    <a:pt x="207456" y="0"/>
                  </a:lnTo>
                  <a:lnTo>
                    <a:pt x="207456" y="762659"/>
                  </a:lnTo>
                  <a:lnTo>
                    <a:pt x="0" y="762659"/>
                  </a:lnTo>
                  <a:close/>
                </a:path>
              </a:pathLst>
            </a:custGeom>
            <a:solidFill>
              <a:srgbClr val="2DB6BB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E6D8649-67A3-98BD-AF25-CC3125B02CEF}"/>
                </a:ext>
              </a:extLst>
            </p:cNvPr>
            <p:cNvSpPr txBox="1"/>
            <p:nvPr/>
          </p:nvSpPr>
          <p:spPr>
            <a:xfrm>
              <a:off x="-262562" y="2213083"/>
              <a:ext cx="207456" cy="80075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2" name="TextBox 1031"/>
          <p:cNvSpPr txBox="1"/>
          <p:nvPr/>
        </p:nvSpPr>
        <p:spPr>
          <a:xfrm>
            <a:off x="1828800" y="3977639"/>
            <a:ext cx="8531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Sridhar Vetrivel  ·  Semester 4 Capstone  ·  Weeks 4–17</a:t>
            </a:r>
          </a:p>
        </p:txBody>
      </p:sp>
    </p:spTree>
    <p:extLst>
      <p:ext uri="{BB962C8B-B14F-4D97-AF65-F5344CB8AC3E}">
        <p14:creationId xmlns:p14="http://schemas.microsoft.com/office/powerpoint/2010/main" val="403166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Agenda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RFP Evaluation Criteria</a:t>
            </a:r>
          </a:p>
        </p:txBody>
      </p:sp>
      <p:sp>
        <p:nvSpPr>
          <p:cNvPr id="1033" name="Oval 1032"/>
          <p:cNvSpPr/>
          <p:nvPr/>
        </p:nvSpPr>
        <p:spPr>
          <a:xfrm>
            <a:off x="548640" y="1600200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777240" y="147218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Problem Understanding</a:t>
            </a:r>
          </a:p>
        </p:txBody>
      </p:sp>
      <p:sp>
        <p:nvSpPr>
          <p:cNvPr id="1035" name="Oval 1034"/>
          <p:cNvSpPr/>
          <p:nvPr/>
        </p:nvSpPr>
        <p:spPr>
          <a:xfrm>
            <a:off x="548640" y="2130552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777240" y="200253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Solution Quality</a:t>
            </a:r>
          </a:p>
        </p:txBody>
      </p:sp>
      <p:sp>
        <p:nvSpPr>
          <p:cNvPr id="1037" name="Oval 1036"/>
          <p:cNvSpPr/>
          <p:nvPr/>
        </p:nvSpPr>
        <p:spPr>
          <a:xfrm>
            <a:off x="548640" y="2660904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777240" y="253288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AI Integration Depth</a:t>
            </a:r>
          </a:p>
        </p:txBody>
      </p:sp>
      <p:sp>
        <p:nvSpPr>
          <p:cNvPr id="1039" name="Oval 1038"/>
          <p:cNvSpPr/>
          <p:nvPr/>
        </p:nvSpPr>
        <p:spPr>
          <a:xfrm>
            <a:off x="548640" y="3191256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777240" y="3063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QA Strategy</a:t>
            </a:r>
          </a:p>
        </p:txBody>
      </p:sp>
      <p:sp>
        <p:nvSpPr>
          <p:cNvPr id="1041" name="Oval 1040"/>
          <p:cNvSpPr/>
          <p:nvPr/>
        </p:nvSpPr>
        <p:spPr>
          <a:xfrm>
            <a:off x="548640" y="3721608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777240" y="35935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Budget &amp; Cost Justification</a:t>
            </a:r>
          </a:p>
        </p:txBody>
      </p:sp>
      <p:sp>
        <p:nvSpPr>
          <p:cNvPr id="1043" name="Oval 1042"/>
          <p:cNvSpPr/>
          <p:nvPr/>
        </p:nvSpPr>
        <p:spPr>
          <a:xfrm>
            <a:off x="548640" y="4251960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77240" y="41239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Timeline Feasibility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6492240" y="1143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Also Covered</a:t>
            </a:r>
          </a:p>
        </p:txBody>
      </p:sp>
      <p:sp>
        <p:nvSpPr>
          <p:cNvPr id="1046" name="Oval 1045"/>
          <p:cNvSpPr/>
          <p:nvPr/>
        </p:nvSpPr>
        <p:spPr>
          <a:xfrm>
            <a:off x="6492240" y="1691640"/>
            <a:ext cx="73152" cy="73152"/>
          </a:xfrm>
          <a:prstGeom prst="ellipse">
            <a:avLst/>
          </a:prstGeom>
          <a:solidFill>
            <a:srgbClr val="D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TextBox 1046"/>
          <p:cNvSpPr txBox="1"/>
          <p:nvPr/>
        </p:nvSpPr>
        <p:spPr>
          <a:xfrm>
            <a:off x="6720840" y="156362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Scope Decisions — what changed, and why</a:t>
            </a:r>
          </a:p>
        </p:txBody>
      </p:sp>
      <p:sp>
        <p:nvSpPr>
          <p:cNvPr id="1048" name="Oval 1047"/>
          <p:cNvSpPr/>
          <p:nvPr/>
        </p:nvSpPr>
        <p:spPr>
          <a:xfrm>
            <a:off x="6492240" y="2313432"/>
            <a:ext cx="73152" cy="73152"/>
          </a:xfrm>
          <a:prstGeom prst="ellipse">
            <a:avLst/>
          </a:prstGeom>
          <a:solidFill>
            <a:srgbClr val="D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TextBox 1048"/>
          <p:cNvSpPr txBox="1"/>
          <p:nvPr/>
        </p:nvSpPr>
        <p:spPr>
          <a:xfrm>
            <a:off x="6720840" y="218541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Live Walkthrough Plan — what we will demonstrate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868680" y="5285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5B6B6B"/>
                </a:solidFill>
                <a:latin typeface="Calibri"/>
              </a:rPr>
              <a:t>Evidence — 419 tests, 100% routing, 5.56% hallucination, 22 EV blocks — is already on file in the Final-Term submission. This session covers the reasoning behind the numbers.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6720840" y="2697480"/>
            <a:ext cx="4846320" cy="2148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Neither item is separately scored. “Scope Decisions” names the two places delivery diverged from the approved proposal — hosted inference and cloud hosting — and why ₹0 was the stronger choice. “Live Walkthrough Plan” is the running order for the live demo: fleet check, one single-domain query, one cross-domain query, then the DAG trace that proves it.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Problem Understanding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475488" y="822960"/>
            <a:ext cx="10762488" cy="5303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B6B"/>
                </a:solidFill>
                <a:latin typeface="Calibri"/>
              </a:rPr>
              <a:t>In plain terms: a question as simple as “did the ETL job fail last night?” only has an answer in Databricks — not GitHub, not the CRM — and usually only one person on the team remembers that.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950976" y="1417320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1088136" y="14173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Databricks</a:t>
            </a:r>
          </a:p>
        </p:txBody>
      </p:sp>
      <p:cxnSp>
        <p:nvCxnSpPr>
          <p:cNvPr id="1035" name="Connector 1034"/>
          <p:cNvCxnSpPr/>
          <p:nvPr/>
        </p:nvCxnSpPr>
        <p:spPr>
          <a:xfrm>
            <a:off x="2116836" y="2606040"/>
            <a:ext cx="3977640" cy="640080"/>
          </a:xfrm>
          <a:prstGeom prst="line">
            <a:avLst/>
          </a:prstGeom>
          <a:ln w="15875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Rounded Rectangle 1035"/>
          <p:cNvSpPr/>
          <p:nvPr/>
        </p:nvSpPr>
        <p:spPr>
          <a:xfrm>
            <a:off x="3602736" y="1417320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TextBox 1036"/>
          <p:cNvSpPr txBox="1"/>
          <p:nvPr/>
        </p:nvSpPr>
        <p:spPr>
          <a:xfrm>
            <a:off x="3739896" y="14173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GitHub /</a:t>
            </a:r>
          </a:p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Azure DevOps</a:t>
            </a:r>
          </a:p>
        </p:txBody>
      </p:sp>
      <p:cxnSp>
        <p:nvCxnSpPr>
          <p:cNvPr id="1038" name="Connector 1037"/>
          <p:cNvCxnSpPr/>
          <p:nvPr/>
        </p:nvCxnSpPr>
        <p:spPr>
          <a:xfrm>
            <a:off x="4768596" y="2606040"/>
            <a:ext cx="1325880" cy="640080"/>
          </a:xfrm>
          <a:prstGeom prst="line">
            <a:avLst/>
          </a:prstGeom>
          <a:ln w="15875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ounded Rectangle 1038"/>
          <p:cNvSpPr/>
          <p:nvPr/>
        </p:nvSpPr>
        <p:spPr>
          <a:xfrm>
            <a:off x="6254496" y="1417320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6391656" y="14173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CRM</a:t>
            </a:r>
          </a:p>
        </p:txBody>
      </p:sp>
      <p:cxnSp>
        <p:nvCxnSpPr>
          <p:cNvPr id="1041" name="Connector 1040"/>
          <p:cNvCxnSpPr/>
          <p:nvPr/>
        </p:nvCxnSpPr>
        <p:spPr>
          <a:xfrm flipH="1">
            <a:off x="6094476" y="2606040"/>
            <a:ext cx="1325880" cy="640080"/>
          </a:xfrm>
          <a:prstGeom prst="line">
            <a:avLst/>
          </a:prstGeom>
          <a:ln w="15875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Rounded Rectangle 1041"/>
          <p:cNvSpPr/>
          <p:nvPr/>
        </p:nvSpPr>
        <p:spPr>
          <a:xfrm>
            <a:off x="8906255" y="1417320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TextBox 1042"/>
          <p:cNvSpPr txBox="1"/>
          <p:nvPr/>
        </p:nvSpPr>
        <p:spPr>
          <a:xfrm>
            <a:off x="9043415" y="14173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Internal Docs</a:t>
            </a:r>
          </a:p>
        </p:txBody>
      </p:sp>
      <p:cxnSp>
        <p:nvCxnSpPr>
          <p:cNvPr id="1044" name="Connector 1043"/>
          <p:cNvCxnSpPr/>
          <p:nvPr/>
        </p:nvCxnSpPr>
        <p:spPr>
          <a:xfrm flipH="1">
            <a:off x="6094476" y="2606040"/>
            <a:ext cx="3977639" cy="640080"/>
          </a:xfrm>
          <a:prstGeom prst="line">
            <a:avLst/>
          </a:prstGeom>
          <a:ln w="15875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5" name="Rounded Rectangle 1044"/>
          <p:cNvSpPr/>
          <p:nvPr/>
        </p:nvSpPr>
        <p:spPr>
          <a:xfrm>
            <a:off x="3717035" y="3246120"/>
            <a:ext cx="4754880" cy="100584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TextBox 1045"/>
          <p:cNvSpPr txBox="1"/>
          <p:nvPr/>
        </p:nvSpPr>
        <p:spPr>
          <a:xfrm>
            <a:off x="3899916" y="324612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Tribal knowledge bottleneck</a:t>
            </a:r>
          </a:p>
        </p:txBody>
      </p:sp>
      <p:cxnSp>
        <p:nvCxnSpPr>
          <p:cNvPr id="1047" name="Connector 1046"/>
          <p:cNvCxnSpPr/>
          <p:nvPr/>
        </p:nvCxnSpPr>
        <p:spPr>
          <a:xfrm>
            <a:off x="6094476" y="4251960"/>
            <a:ext cx="0" cy="731520"/>
          </a:xfrm>
          <a:prstGeom prst="line">
            <a:avLst/>
          </a:prstGeom>
          <a:ln w="15875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" name="Rounded Rectangle 1047"/>
          <p:cNvSpPr/>
          <p:nvPr/>
        </p:nvSpPr>
        <p:spPr>
          <a:xfrm>
            <a:off x="2894076" y="4983480"/>
            <a:ext cx="6400800" cy="10515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2DB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TextBox 1048"/>
          <p:cNvSpPr txBox="1"/>
          <p:nvPr/>
        </p:nvSpPr>
        <p:spPr>
          <a:xfrm>
            <a:off x="3076956" y="4983480"/>
            <a:ext cx="60350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The real risk: an ungrounded AI answer is confidently wrong — worse than no assistant at all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Solution Quality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585215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722375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Natural-Language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Query</a:t>
            </a:r>
          </a:p>
        </p:txBody>
      </p:sp>
      <p:cxnSp>
        <p:nvCxnSpPr>
          <p:cNvPr id="1035" name="Connector 1034"/>
          <p:cNvCxnSpPr/>
          <p:nvPr/>
        </p:nvCxnSpPr>
        <p:spPr>
          <a:xfrm>
            <a:off x="3099815" y="3154680"/>
            <a:ext cx="320041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Rounded Rectangle 1035"/>
          <p:cNvSpPr/>
          <p:nvPr/>
        </p:nvSpPr>
        <p:spPr>
          <a:xfrm>
            <a:off x="3419856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TextBox 1036"/>
          <p:cNvSpPr txBox="1"/>
          <p:nvPr/>
        </p:nvSpPr>
        <p:spPr>
          <a:xfrm>
            <a:off x="3557015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Coordinator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(LLM Routing)</a:t>
            </a:r>
          </a:p>
        </p:txBody>
      </p:sp>
      <p:cxnSp>
        <p:nvCxnSpPr>
          <p:cNvPr id="1038" name="Connector 1037"/>
          <p:cNvCxnSpPr/>
          <p:nvPr/>
        </p:nvCxnSpPr>
        <p:spPr>
          <a:xfrm>
            <a:off x="5934456" y="3154680"/>
            <a:ext cx="320040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ounded Rectangle 1038"/>
          <p:cNvSpPr/>
          <p:nvPr/>
        </p:nvSpPr>
        <p:spPr>
          <a:xfrm>
            <a:off x="6254496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6391656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Specialist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Agent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8769096" y="3154680"/>
            <a:ext cx="320040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Rounded Rectangle 1041"/>
          <p:cNvSpPr/>
          <p:nvPr/>
        </p:nvSpPr>
        <p:spPr>
          <a:xfrm>
            <a:off x="9089136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TextBox 1042"/>
          <p:cNvSpPr txBox="1"/>
          <p:nvPr/>
        </p:nvSpPr>
        <p:spPr>
          <a:xfrm>
            <a:off x="9226296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Cited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Response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548640" y="438912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B6B6B"/>
                </a:solidFill>
                <a:latin typeface="Calibri"/>
              </a:rPr>
              <a:t>One Coordinator Agent + 4 distinct Specialist Agents on AgentField — every hop traced as a DAG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22960"/>
            <a:ext cx="11128248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In plain terms: one question becomes one routed call, not one long prompt. The coordinator reads intent, calls exactly the specialist agents that question needs, and every hop — coordinator to specialist, specialist back to coordinator — is logged as its own traced execution, not a function call buried inside one model.</a:t>
            </a:r>
          </a:p>
        </p:txBody>
      </p:sp>
      <p:sp>
        <p:nvSpPr>
          <p:cNvPr id="5010" name="Rounded Rectangle 5010"/>
          <p:cNvSpPr/>
          <p:nvPr/>
        </p:nvSpPr>
        <p:spPr>
          <a:xfrm>
            <a:off x="548640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1" name="TextBox 5011"/>
          <p:cNvSpPr txBox="1"/>
          <p:nvPr/>
        </p:nvSpPr>
        <p:spPr>
          <a:xfrm>
            <a:off x="640080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data-agent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Databricks — job runs, SQL warehouses</a:t>
            </a:r>
          </a:p>
        </p:txBody>
      </p:sp>
      <p:sp>
        <p:nvSpPr>
          <p:cNvPr id="5012" name="Rounded Rectangle 5012"/>
          <p:cNvSpPr/>
          <p:nvPr/>
        </p:nvSpPr>
        <p:spPr>
          <a:xfrm>
            <a:off x="3390138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3" name="TextBox 5013"/>
          <p:cNvSpPr txBox="1"/>
          <p:nvPr/>
        </p:nvSpPr>
        <p:spPr>
          <a:xfrm>
            <a:off x="3481578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devops-agent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GitHub Actions / Azure DevOps — CI/CD runs</a:t>
            </a:r>
          </a:p>
        </p:txBody>
      </p:sp>
      <p:sp>
        <p:nvSpPr>
          <p:cNvPr id="5014" name="Rounded Rectangle 5014"/>
          <p:cNvSpPr/>
          <p:nvPr/>
        </p:nvSpPr>
        <p:spPr>
          <a:xfrm>
            <a:off x="6231636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5" name="TextBox 5015"/>
          <p:cNvSpPr txBox="1"/>
          <p:nvPr/>
        </p:nvSpPr>
        <p:spPr>
          <a:xfrm>
            <a:off x="6323076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crm-agent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CRM — accounts, deals, owners</a:t>
            </a:r>
          </a:p>
        </p:txBody>
      </p:sp>
      <p:sp>
        <p:nvSpPr>
          <p:cNvPr id="5016" name="Rounded Rectangle 5016"/>
          <p:cNvSpPr/>
          <p:nvPr/>
        </p:nvSpPr>
        <p:spPr>
          <a:xfrm>
            <a:off x="9073134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7" name="TextBox 5017"/>
          <p:cNvSpPr txBox="1"/>
          <p:nvPr/>
        </p:nvSpPr>
        <p:spPr>
          <a:xfrm>
            <a:off x="9164574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docs-agent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RAG over runbooks and internal docs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AI Integration Depth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822960" y="1371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5B6B6B"/>
                </a:solidFill>
                <a:latin typeface="Calibri"/>
              </a:rPr>
              <a:t>NOT this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822960" y="1920240"/>
            <a:ext cx="4846320" cy="146304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5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1097280" y="1920240"/>
            <a:ext cx="42976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5B6B6B"/>
                </a:solidFill>
                <a:latin typeface="Calibri"/>
              </a:rPr>
              <a:t>One LLM behind a</a:t>
            </a:r>
          </a:p>
          <a:p>
            <a:pPr algn="ctr"/>
            <a:r>
              <a:rPr sz="1500" b="0" i="0">
                <a:solidFill>
                  <a:srgbClr val="5B6B6B"/>
                </a:solidFill>
                <a:latin typeface="Calibri"/>
              </a:rPr>
              <a:t>long system prompt,</a:t>
            </a:r>
          </a:p>
          <a:p>
            <a:pPr algn="ctr"/>
            <a:r>
              <a:rPr sz="1500" b="0" i="0">
                <a:solidFill>
                  <a:srgbClr val="5B6B6B"/>
                </a:solidFill>
                <a:latin typeface="Calibri"/>
              </a:rPr>
              <a:t>relabeled “multi-agent”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6217920" y="13716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This build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6217920" y="1920240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6446520" y="192024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LLM-based intent routing</a:t>
            </a:r>
          </a:p>
        </p:txBody>
      </p:sp>
      <p:sp>
        <p:nvSpPr>
          <p:cNvPr id="1039" name="Rounded Rectangle 1038"/>
          <p:cNvSpPr/>
          <p:nvPr/>
        </p:nvSpPr>
        <p:spPr>
          <a:xfrm>
            <a:off x="6217920" y="2633472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6446520" y="2633472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Semantic retrieval (RAG)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6217920" y="3346704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6446520" y="334670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Citation-grounded generation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Each stage is genuinely AI-driven — not a single prompt wearing three different hats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786384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B6B"/>
                </a:solidFill>
                <a:latin typeface="Calibri"/>
              </a:rPr>
              <a:t>In plain terms: ask the “NOT this” panel a CRM question, then a DevOps question — the words change, the engine does not. This build answers each from a different agent: crm-agent, devops-agent.</a:t>
            </a:r>
          </a:p>
        </p:txBody>
      </p:sp>
      <p:sp>
        <p:nvSpPr>
          <p:cNvPr id="5002" name="TextBox 5002"/>
          <p:cNvSpPr txBox="1"/>
          <p:nvPr/>
        </p:nvSpPr>
        <p:spPr>
          <a:xfrm>
            <a:off x="548640" y="416052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5B6B6B"/>
                </a:solidFill>
                <a:latin typeface="Calibri"/>
              </a:rPr>
              <a:t>Proof, not a claim: every one of these calls is a distinct AgentField execution with its own execution_id, visible in the control plane’s DAG view — a single prompt cannot produce three of those.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QA Strategy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539495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1979675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722375" y="251460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Routing Accuracy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768095" y="324612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Every query graded against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expected domain(s)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4334256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5774436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4517136" y="251460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Grounding &amp;</a:t>
            </a:r>
          </a:p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Citations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4562856" y="324612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Citation checked against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the record, not just present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8129016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xfrm>
            <a:off x="9569196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8311896" y="251460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Hallucination Rate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8357616" y="324612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Two-half Judge Agent —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LLM + deterministic check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539496" y="78638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B6B"/>
                </a:solidFill>
                <a:latin typeface="Calibri"/>
              </a:rPr>
              <a:t>In plain terms: every answer is graded twice — once on whether it reached the right specialist, once on whether each sentence is actually backed by a citation.</a:t>
            </a:r>
          </a:p>
        </p:txBody>
      </p:sp>
      <p:sp>
        <p:nvSpPr>
          <p:cNvPr id="5002" name="Rounded Rectangle 5002"/>
          <p:cNvSpPr/>
          <p:nvPr/>
        </p:nvSpPr>
        <p:spPr>
          <a:xfrm>
            <a:off x="539496" y="5074920"/>
            <a:ext cx="11109960" cy="8229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3" name="TextBox 5003"/>
          <p:cNvSpPr txBox="1"/>
          <p:nvPr/>
        </p:nvSpPr>
        <p:spPr>
          <a:xfrm>
            <a:off x="813816" y="5074920"/>
            <a:ext cx="105613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8E91"/>
                </a:solidFill>
                <a:latin typeface="Calibri"/>
              </a:rPr>
              <a:t>Measured on the live control plane, 12 of 12 graded queries: 100% routing accuracy · 5.56% hallucination rate (target &lt;10%) · 93.11% test coverage (target ≥80%) — every target met, not just attempted.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Budget &amp; Cost Justification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822960" y="1737360"/>
            <a:ext cx="6400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8E91"/>
                </a:solidFill>
                <a:latin typeface="Calibri"/>
              </a:rPr>
              <a:t>₹0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868680" y="3063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6B"/>
                </a:solidFill>
                <a:latin typeface="Calibri"/>
              </a:rPr>
              <a:t>actual spend, of a ₹2,500 fixed ceiling</a:t>
            </a:r>
          </a:p>
        </p:txBody>
      </p:sp>
      <p:sp>
        <p:nvSpPr>
          <p:cNvPr id="1035" name="Rounded Rectangle 1034"/>
          <p:cNvSpPr/>
          <p:nvPr/>
        </p:nvSpPr>
        <p:spPr>
          <a:xfrm>
            <a:off x="822960" y="3794760"/>
            <a:ext cx="6766560" cy="4572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822960" y="379476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8E91"/>
                </a:solidFill>
                <a:latin typeface="Calibri"/>
              </a:rPr>
              <a:t>100% of ceiling remains as buffer</a:t>
            </a:r>
          </a:p>
        </p:txBody>
      </p:sp>
      <p:sp>
        <p:nvSpPr>
          <p:cNvPr id="1037" name="Oval 1036"/>
          <p:cNvSpPr/>
          <p:nvPr/>
        </p:nvSpPr>
        <p:spPr>
          <a:xfrm>
            <a:off x="822960" y="4709159"/>
            <a:ext cx="109728" cy="109728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1097280" y="4663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3030"/>
                </a:solidFill>
                <a:latin typeface="Calibri"/>
              </a:rPr>
              <a:t>AgentField, Ollama, Pytest, GitHub Actions — every tool open-source or free-tier</a:t>
            </a:r>
          </a:p>
        </p:txBody>
      </p:sp>
      <p:sp>
        <p:nvSpPr>
          <p:cNvPr id="1039" name="Oval 1038"/>
          <p:cNvSpPr/>
          <p:nvPr/>
        </p:nvSpPr>
        <p:spPr>
          <a:xfrm>
            <a:off x="822960" y="5303520"/>
            <a:ext cx="109728" cy="109728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1097280" y="52578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3030"/>
                </a:solidFill>
                <a:latin typeface="Calibri"/>
              </a:rPr>
              <a:t>Paid inference (OpenRouter) was a one-line config option — never required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7955279" y="173736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8229600" y="1965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Why ₹0 works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8229600" y="2514600"/>
            <a:ext cx="30175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Local Ollama meets every graded QA target. A hosted model remains a single environment-variable swap — available, never required for this build.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68680"/>
            <a:ext cx="11128248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In plain terms: every piece of this system — AgentField, Ollama, Pytest, GitHub Actions — is open-source or free-tier, so the architecture does not get smaller if the budget does.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Timeline Feasibility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63040" y="3017520"/>
            <a:ext cx="9235440" cy="0"/>
          </a:xfrm>
          <a:prstGeom prst="line">
            <a:avLst/>
          </a:prstGeom>
          <a:ln w="3810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Oval 1033"/>
          <p:cNvSpPr/>
          <p:nvPr/>
        </p:nvSpPr>
        <p:spPr>
          <a:xfrm>
            <a:off x="1261872" y="2816351"/>
            <a:ext cx="402336" cy="402336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274320" y="2103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8E91"/>
                </a:solidFill>
                <a:latin typeface="Calibri"/>
              </a:rPr>
              <a:t>Week 4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274320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Kickoff &amp;</a:t>
            </a:r>
          </a:p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Architecture</a:t>
            </a:r>
          </a:p>
        </p:txBody>
      </p:sp>
      <p:sp>
        <p:nvSpPr>
          <p:cNvPr id="1037" name="Oval 1036"/>
          <p:cNvSpPr/>
          <p:nvPr/>
        </p:nvSpPr>
        <p:spPr>
          <a:xfrm>
            <a:off x="5879592" y="2816351"/>
            <a:ext cx="402336" cy="402336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4892040" y="2103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8E91"/>
                </a:solidFill>
                <a:latin typeface="Calibri"/>
              </a:rPr>
              <a:t>Week 10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4892040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Mid-Term</a:t>
            </a:r>
          </a:p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Checkpoint</a:t>
            </a:r>
          </a:p>
        </p:txBody>
      </p:sp>
      <p:sp>
        <p:nvSpPr>
          <p:cNvPr id="1040" name="Oval 1039"/>
          <p:cNvSpPr/>
          <p:nvPr/>
        </p:nvSpPr>
        <p:spPr>
          <a:xfrm>
            <a:off x="10497311" y="2816351"/>
            <a:ext cx="402336" cy="402336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9509759" y="2103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8E91"/>
                </a:solidFill>
                <a:latin typeface="Calibri"/>
              </a:rPr>
              <a:t>Week 17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9509759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Final Review</a:t>
            </a:r>
          </a:p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(Today)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914400" y="4480560"/>
            <a:ext cx="10360152" cy="12801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1188720" y="4663440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3030"/>
                </a:solidFill>
                <a:latin typeface="Calibri"/>
              </a:rPr>
              <a:t>Week 10 checkpoint: 100% complete — 2 agents, index populated, grounded routing.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3030"/>
                </a:solidFill>
                <a:latin typeface="Calibri"/>
              </a:rPr>
              <a:t>Week 17: 11 of 13 deliverables Done; the remaining 2 trace to one disclosed scope decision.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68680"/>
            <a:ext cx="11128248" cy="10972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In plain terms: the plan committed to in Week 4 is the plan delivered in Week 17 — two agents at the midpoint, five agents and a graded QA suite at the end, with every deviation disclosed on the Scope Decisions slide, not discovered by a reviewer.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Scope Decisions — What Changed, and Why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1188720" y="1325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5B6B6B"/>
                </a:solidFill>
                <a:latin typeface="Calibri"/>
              </a:rPr>
              <a:t>Approved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858000" y="1325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Actual — by decision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1188720" y="1874519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5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1371600" y="1874519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OpenRouter</a:t>
            </a:r>
          </a:p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(paid inference)</a:t>
            </a:r>
          </a:p>
        </p:txBody>
      </p:sp>
      <p:cxnSp>
        <p:nvCxnSpPr>
          <p:cNvPr id="1036" name="Connector 1035"/>
          <p:cNvCxnSpPr/>
          <p:nvPr/>
        </p:nvCxnSpPr>
        <p:spPr>
          <a:xfrm>
            <a:off x="5394960" y="2560320"/>
            <a:ext cx="1371600" cy="0"/>
          </a:xfrm>
          <a:prstGeom prst="line">
            <a:avLst/>
          </a:prstGeom>
          <a:ln w="31750">
            <a:solidFill>
              <a:srgbClr val="DCD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Rounded Rectangle 1036"/>
          <p:cNvSpPr/>
          <p:nvPr/>
        </p:nvSpPr>
        <p:spPr>
          <a:xfrm>
            <a:off x="6858000" y="1874519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7040880" y="1874519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Local Ollama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— ₹0, all targets met</a:t>
            </a:r>
          </a:p>
        </p:txBody>
      </p:sp>
      <p:sp>
        <p:nvSpPr>
          <p:cNvPr id="1039" name="Rounded Rectangle 1038"/>
          <p:cNvSpPr/>
          <p:nvPr/>
        </p:nvSpPr>
        <p:spPr>
          <a:xfrm>
            <a:off x="1188720" y="356616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5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1371600" y="3566160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Azure B1s</a:t>
            </a:r>
          </a:p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hosting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5394960" y="4251960"/>
            <a:ext cx="1371600" cy="0"/>
          </a:xfrm>
          <a:prstGeom prst="line">
            <a:avLst/>
          </a:prstGeom>
          <a:ln w="31750">
            <a:solidFill>
              <a:srgbClr val="DCD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Rounded Rectangle 1041"/>
          <p:cNvSpPr/>
          <p:nvPr/>
        </p:nvSpPr>
        <p:spPr>
          <a:xfrm>
            <a:off x="6858000" y="356616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TextBox 1042"/>
          <p:cNvSpPr txBox="1"/>
          <p:nvPr/>
        </p:nvSpPr>
        <p:spPr>
          <a:xfrm>
            <a:off x="7040880" y="3566160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Docker Compose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— identical behaviour, local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1188720" y="53492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1">
                <a:solidFill>
                  <a:srgbClr val="5B6B6B"/>
                </a:solidFill>
                <a:latin typeface="Calibri"/>
              </a:rPr>
              <a:t>Both are a recorded ₹0 decision, not a missed requirement — and both remain a one-line config change away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768096"/>
            <a:ext cx="10497312" cy="5303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B6B6B"/>
                </a:solidFill>
                <a:latin typeface="Calibri"/>
              </a:rPr>
              <a:t>In plain terms: two line items changed because paid inference and cloud hosting were never necessary to hit the proposal’s own targets — not because something was cut.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Live Walkthrough Plan</a:t>
            </a:r>
          </a:p>
        </p:txBody>
      </p:sp>
      <p:sp>
        <p:nvSpPr>
          <p:cNvPr id="1032" name="Oval 1031"/>
          <p:cNvSpPr/>
          <p:nvPr/>
        </p:nvSpPr>
        <p:spPr>
          <a:xfrm>
            <a:off x="1499615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470915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608075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Fleet Readiness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653795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All 5 agent nodes online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and routable</a:t>
            </a:r>
          </a:p>
        </p:txBody>
      </p:sp>
      <p:cxnSp>
        <p:nvCxnSpPr>
          <p:cNvPr id="1036" name="Connector 1035"/>
          <p:cNvCxnSpPr/>
          <p:nvPr/>
        </p:nvCxnSpPr>
        <p:spPr>
          <a:xfrm>
            <a:off x="3095244" y="2103120"/>
            <a:ext cx="237743" cy="0"/>
          </a:xfrm>
          <a:prstGeom prst="line">
            <a:avLst/>
          </a:prstGeom>
          <a:ln w="19050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Oval 1036"/>
          <p:cNvSpPr/>
          <p:nvPr/>
        </p:nvSpPr>
        <p:spPr>
          <a:xfrm>
            <a:off x="4379976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38" name="Rounded Rectangle 1037"/>
          <p:cNvSpPr/>
          <p:nvPr/>
        </p:nvSpPr>
        <p:spPr>
          <a:xfrm>
            <a:off x="3351275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3488435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Single-Domain</a:t>
            </a:r>
          </a:p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Query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3534156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Routes to one specialist,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answers with a citation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5975603" y="2103120"/>
            <a:ext cx="237745" cy="0"/>
          </a:xfrm>
          <a:prstGeom prst="line">
            <a:avLst/>
          </a:prstGeom>
          <a:ln w="19050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Oval 1041"/>
          <p:cNvSpPr/>
          <p:nvPr/>
        </p:nvSpPr>
        <p:spPr>
          <a:xfrm>
            <a:off x="7260336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6231636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6368796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Cross-Domain</a:t>
            </a:r>
          </a:p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Query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6414516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Fans out to multiple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specialists, one answer</a:t>
            </a:r>
          </a:p>
        </p:txBody>
      </p:sp>
      <p:cxnSp>
        <p:nvCxnSpPr>
          <p:cNvPr id="1046" name="Connector 1045"/>
          <p:cNvCxnSpPr/>
          <p:nvPr/>
        </p:nvCxnSpPr>
        <p:spPr>
          <a:xfrm>
            <a:off x="8855963" y="2103120"/>
            <a:ext cx="237745" cy="0"/>
          </a:xfrm>
          <a:prstGeom prst="line">
            <a:avLst/>
          </a:prstGeom>
          <a:ln w="19050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Oval 1046"/>
          <p:cNvSpPr/>
          <p:nvPr/>
        </p:nvSpPr>
        <p:spPr>
          <a:xfrm>
            <a:off x="10140696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48" name="Rounded Rectangle 1047"/>
          <p:cNvSpPr/>
          <p:nvPr/>
        </p:nvSpPr>
        <p:spPr>
          <a:xfrm>
            <a:off x="9111996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TextBox 1048"/>
          <p:cNvSpPr txBox="1"/>
          <p:nvPr/>
        </p:nvSpPr>
        <p:spPr>
          <a:xfrm>
            <a:off x="9249156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DAG Trace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9294876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Every agent-to-agent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hop, timed, in the UI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B6B6B"/>
                </a:solidFill>
                <a:latin typeface="Calibri"/>
              </a:rPr>
              <a:t>Pacing: 2–4 min single-domain · 8–15 min cross-domain (CPU inference) — a pre-traced run is kept ready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68680"/>
            <a:ext cx="11237976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In plain terms: this is not a slide of claims — it is the order we will run it live, from an empty fleet check to a cross-domain answer with its own DAG trace on screen.</a:t>
            </a:r>
          </a:p>
        </p:txBody>
      </p:sp>
      <p:sp>
        <p:nvSpPr>
          <p:cNvPr id="5002" name="TextBox 5002"/>
          <p:cNvSpPr txBox="1"/>
          <p:nvPr/>
        </p:nvSpPr>
        <p:spPr>
          <a:xfrm>
            <a:off x="548640" y="434340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B6B6B"/>
                </a:solidFill>
                <a:latin typeface="Calibri"/>
              </a:rPr>
              <a:t>Every step runs against the live control plane, not a recorded demo — a pre-traced backup run is kept ready only for the cross-domain timing, not as a substitute.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B8845-D2C5-5536-A8FF-04653E8B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1</a:t>
            </a:fld>
            <a:endParaRPr lang="en-IN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37355-0C3C-64C1-03B7-6C9BAA0F8EF8}"/>
              </a:ext>
            </a:extLst>
          </p:cNvPr>
          <p:cNvSpPr txBox="1"/>
          <p:nvPr/>
        </p:nvSpPr>
        <p:spPr>
          <a:xfrm>
            <a:off x="2995079" y="2463249"/>
            <a:ext cx="62101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1F8E91"/>
                </a:solidFill>
                <a:ea typeface="Calibri"/>
                <a:cs typeface="Calibri"/>
              </a:rPr>
              <a:t>Ready for Live Review</a:t>
            </a:r>
          </a:p>
          <a:p>
            <a:pPr algn="ctr"/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100% routing · 5.56% hallucination · 93.11% coverage · ₹0 of ₹2,500 spent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C6A2C-4B51-1564-7104-6C17CD775A20}"/>
              </a:ext>
            </a:extLst>
          </p:cNvPr>
          <p:cNvSpPr txBox="1"/>
          <p:nvPr/>
        </p:nvSpPr>
        <p:spPr>
          <a:xfrm>
            <a:off x="10082596" y="241514"/>
            <a:ext cx="18951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1F8E91"/>
                </a:solidFill>
                <a:ea typeface="Calibri"/>
                <a:cs typeface="Calibri"/>
              </a:rPr>
              <a:t>S4-I-24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372F4-5000-D38D-DB2F-E0411A6A93B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4C02FF-9BCB-7E26-EA32-0FD6756D0DF4}"/>
              </a:ext>
            </a:extLst>
          </p:cNvPr>
          <p:cNvGrpSpPr/>
          <p:nvPr/>
        </p:nvGrpSpPr>
        <p:grpSpPr>
          <a:xfrm rot="2700000">
            <a:off x="10967489" y="2157469"/>
            <a:ext cx="2008299" cy="2041410"/>
            <a:chOff x="10967489" y="2157469"/>
            <a:chExt cx="1316462" cy="132329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39FF88-710F-BA83-9BCF-5D26BDE7127E}"/>
                </a:ext>
              </a:extLst>
            </p:cNvPr>
            <p:cNvSpPr/>
            <p:nvPr/>
          </p:nvSpPr>
          <p:spPr>
            <a:xfrm>
              <a:off x="10967489" y="2195569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solidFill>
              <a:srgbClr val="DCD400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50DFF37D-AE56-1A28-056C-B7BD1B5F56A0}"/>
                </a:ext>
              </a:extLst>
            </p:cNvPr>
            <p:cNvSpPr txBox="1"/>
            <p:nvPr/>
          </p:nvSpPr>
          <p:spPr>
            <a:xfrm>
              <a:off x="10967489" y="2157469"/>
              <a:ext cx="1316462" cy="13232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A553-EC1F-8F54-A819-6EB5A46715E1}"/>
              </a:ext>
            </a:extLst>
          </p:cNvPr>
          <p:cNvGrpSpPr/>
          <p:nvPr/>
        </p:nvGrpSpPr>
        <p:grpSpPr>
          <a:xfrm rot="2700000">
            <a:off x="8699025" y="2147080"/>
            <a:ext cx="2008299" cy="2041410"/>
            <a:chOff x="8699025" y="2147080"/>
            <a:chExt cx="1316462" cy="1323298"/>
          </a:xfrm>
          <a:solidFill>
            <a:srgbClr val="1F8E91"/>
          </a:solidFill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5B957A0-07F7-6F9E-C3B4-088C0B3689E9}"/>
                </a:ext>
              </a:extLst>
            </p:cNvPr>
            <p:cNvSpPr/>
            <p:nvPr/>
          </p:nvSpPr>
          <p:spPr>
            <a:xfrm>
              <a:off x="8699025" y="218518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10561BAC-6CCF-13CB-E5B3-583A63F887D9}"/>
                </a:ext>
              </a:extLst>
            </p:cNvPr>
            <p:cNvSpPr txBox="1"/>
            <p:nvPr/>
          </p:nvSpPr>
          <p:spPr>
            <a:xfrm>
              <a:off x="8699025" y="2147080"/>
              <a:ext cx="1316462" cy="13232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ECA43-30DB-4841-11B6-25BA767A2B0B}"/>
              </a:ext>
            </a:extLst>
          </p:cNvPr>
          <p:cNvGrpSpPr/>
          <p:nvPr/>
        </p:nvGrpSpPr>
        <p:grpSpPr>
          <a:xfrm rot="2700000">
            <a:off x="9987076" y="2167860"/>
            <a:ext cx="2008299" cy="2041410"/>
            <a:chOff x="9987076" y="2167860"/>
            <a:chExt cx="1316462" cy="1323298"/>
          </a:xfrm>
          <a:solidFill>
            <a:srgbClr val="1F8E9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6A6E56D-A13F-2CD9-C7B5-6C9FC55F1A45}"/>
                </a:ext>
              </a:extLst>
            </p:cNvPr>
            <p:cNvSpPr/>
            <p:nvPr/>
          </p:nvSpPr>
          <p:spPr>
            <a:xfrm>
              <a:off x="9987076" y="220596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845BF228-1FAC-F571-C341-A2103AD44EC4}"/>
                </a:ext>
              </a:extLst>
            </p:cNvPr>
            <p:cNvSpPr txBox="1"/>
            <p:nvPr/>
          </p:nvSpPr>
          <p:spPr>
            <a:xfrm>
              <a:off x="9987076" y="2167860"/>
              <a:ext cx="1316462" cy="1323298"/>
            </a:xfrm>
            <a:prstGeom prst="rect">
              <a:avLst/>
            </a:prstGeom>
            <a:solidFill>
              <a:srgbClr val="2DB6BB"/>
            </a:solidFill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8E5D3-2781-4E0C-7785-C8B5368E0FED}"/>
              </a:ext>
            </a:extLst>
          </p:cNvPr>
          <p:cNvGrpSpPr/>
          <p:nvPr/>
        </p:nvGrpSpPr>
        <p:grpSpPr>
          <a:xfrm>
            <a:off x="-262562" y="2213083"/>
            <a:ext cx="525124" cy="2026921"/>
            <a:chOff x="-262562" y="2213083"/>
            <a:chExt cx="207456" cy="800759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F633C376-D099-53BD-AC14-9784BB65FCEE}"/>
                </a:ext>
              </a:extLst>
            </p:cNvPr>
            <p:cNvSpPr/>
            <p:nvPr/>
          </p:nvSpPr>
          <p:spPr>
            <a:xfrm>
              <a:off x="-262562" y="2251183"/>
              <a:ext cx="207456" cy="762659"/>
            </a:xfrm>
            <a:custGeom>
              <a:avLst/>
              <a:gdLst/>
              <a:ahLst/>
              <a:cxnLst/>
              <a:rect l="l" t="t" r="r" b="b"/>
              <a:pathLst>
                <a:path w="207456" h="762659">
                  <a:moveTo>
                    <a:pt x="0" y="0"/>
                  </a:moveTo>
                  <a:lnTo>
                    <a:pt x="207456" y="0"/>
                  </a:lnTo>
                  <a:lnTo>
                    <a:pt x="207456" y="762659"/>
                  </a:lnTo>
                  <a:lnTo>
                    <a:pt x="0" y="762659"/>
                  </a:lnTo>
                  <a:close/>
                </a:path>
              </a:pathLst>
            </a:custGeom>
            <a:solidFill>
              <a:srgbClr val="2DB6BB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E6D8649-67A3-98BD-AF25-CC3125B02CEF}"/>
                </a:ext>
              </a:extLst>
            </p:cNvPr>
            <p:cNvSpPr txBox="1"/>
            <p:nvPr/>
          </p:nvSpPr>
          <p:spPr>
            <a:xfrm>
              <a:off x="-262562" y="2213083"/>
              <a:ext cx="207456" cy="80075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2" name="TextBox 1031"/>
          <p:cNvSpPr txBox="1"/>
          <p:nvPr/>
        </p:nvSpPr>
        <p:spPr>
          <a:xfrm>
            <a:off x="1828800" y="3977639"/>
            <a:ext cx="8531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Thank you — happy to take questions or run any query live</a:t>
            </a:r>
          </a:p>
        </p:txBody>
      </p:sp>
    </p:spTree>
    <p:extLst>
      <p:ext uri="{BB962C8B-B14F-4D97-AF65-F5344CB8AC3E}">
        <p14:creationId xmlns:p14="http://schemas.microsoft.com/office/powerpoint/2010/main" val="403166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5917f08-b411-4c8c-b73b-478edaa64b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675B97AD28E4A84DDD15DAFC4C3BF" ma:contentTypeVersion="15" ma:contentTypeDescription="Create a new document." ma:contentTypeScope="" ma:versionID="34fe4ac9dce90b3ca86d44f51d6b599b">
  <xsd:schema xmlns:xsd="http://www.w3.org/2001/XMLSchema" xmlns:xs="http://www.w3.org/2001/XMLSchema" xmlns:p="http://schemas.microsoft.com/office/2006/metadata/properties" xmlns:ns3="85917f08-b411-4c8c-b73b-478edaa64b5d" xmlns:ns4="8acdb649-c3dc-403e-8f98-6d94a85edfed" targetNamespace="http://schemas.microsoft.com/office/2006/metadata/properties" ma:root="true" ma:fieldsID="32de2392117b035fb8469ae55c5d331a" ns3:_="" ns4:_="">
    <xsd:import namespace="85917f08-b411-4c8c-b73b-478edaa64b5d"/>
    <xsd:import namespace="8acdb649-c3dc-403e-8f98-6d94a85edf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17f08-b411-4c8c-b73b-478edaa64b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db649-c3dc-403e-8f98-6d94a85ed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F03512-25DF-493B-9B53-51BE253359EC}">
  <ds:schemaRefs/>
</ds:datastoreItem>
</file>

<file path=customXml/itemProps2.xml><?xml version="1.0" encoding="utf-8"?>
<ds:datastoreItem xmlns:ds="http://schemas.openxmlformats.org/officeDocument/2006/customXml" ds:itemID="{66373FA7-71C7-4D16-9EDE-82A2EECC32F9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85917f08-b411-4c8c-b73b-478edaa64b5d"/>
    <ds:schemaRef ds:uri="http://purl.org/dc/dcmitype/"/>
    <ds:schemaRef ds:uri="http://schemas.microsoft.com/office/2006/metadata/properties"/>
    <ds:schemaRef ds:uri="http://purl.org/dc/elements/1.1/"/>
    <ds:schemaRef ds:uri="8acdb649-c3dc-403e-8f98-6d94a85edfed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64E5DF6-33F1-4CBE-90C8-28D1C50540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17f08-b411-4c8c-b73b-478edaa64b5d"/>
    <ds:schemaRef ds:uri="8acdb649-c3dc-403e-8f98-6d94a85ed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Sivaram Menon</dc:creator>
  <cp:lastModifiedBy>Ashwath Kumaran</cp:lastModifiedBy>
  <cp:revision>22</cp:revision>
  <dcterms:created xsi:type="dcterms:W3CDTF">2023-06-07T10:10:00Z</dcterms:created>
  <dcterms:modified xsi:type="dcterms:W3CDTF">2026-10-13T08:51:27Z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0x0101004D2675B97AD28E4A84DDD15DAFC4C3BF</vt:lpwstr>
  </property>
  <property fmtid="{D5CDD505-2E9C-101B-9397-08002B2CF9AE}" pid="3" name="ICV">
    <vt:lpwstr>D557ECC3AC674A6CB7A90FDC0A14402D_12</vt:lpwstr>
  </property>
  <property fmtid="{D5CDD505-2E9C-101B-9397-08002B2CF9AE}" pid="4" name="KSOProductBuildVer">
    <vt:lpwstr>1033-12.2.0.16731</vt:lpwstr>
  </property>
  <property fmtid="{D5CDD505-2E9C-101B-9397-08002B2CF9AE}" pid="5" name="MediaServiceImageTags">
    <vt:lpwstr/>
  </property>
  <property fmtid="{D5CDD505-2E9C-101B-9397-08002B2CF9AE}" pid="6" name="Order">
    <vt:r8>4800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