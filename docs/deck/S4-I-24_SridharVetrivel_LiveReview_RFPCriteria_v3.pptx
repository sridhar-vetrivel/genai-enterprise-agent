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bookmarkIdSeed="24">
  <p:sldMasterIdLst>
    <p:sldMasterId id="2147483648" r:id="rId4"/>
  </p:sldMasterIdLst>
  <p:notesMasterIdLst>
    <p:notesMasterId r:id="rId14"/>
  </p:notesMasterIdLst>
  <p:sldIdLst>
    <p:sldId id="1359437" r:id="rId5"/>
    <p:sldId id="1359442" r:id="rId6"/>
    <p:sldId id="1359443" r:id="rId7"/>
    <p:sldId id="1359452" r:id="rId8"/>
    <p:sldId id="1359444" r:id="rId9"/>
    <p:sldId id="1359446" r:id="rId10"/>
    <p:sldId id="1359447" r:id="rId11"/>
    <p:sldId id="1359449" r:id="rId12"/>
    <p:sldId id="135945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77B9A24-1FC8-1D76-391A-173325328625}" name="Aditya Manthena" initials="AM" userId="S::aditya.manthena@psiog.com::0b87e450-5e44-4cd3-aebd-c1a25a66c2e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8E91"/>
    <a:srgbClr val="6AD9DC"/>
    <a:srgbClr val="2DB6BB"/>
    <a:srgbClr val="7CDEE0"/>
    <a:srgbClr val="DDFABE"/>
    <a:srgbClr val="DDF6F7"/>
    <a:srgbClr val="59CB64"/>
    <a:srgbClr val="726C6C"/>
    <a:srgbClr val="BEEFF0"/>
    <a:srgbClr val="F0925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D99F12-2CB7-8F2F-F67A-BE320314DDD9}" v="122" dt="2025-03-10T10:11:15.62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0D88B4-EC88-419C-9C7F-4190E1D90D5B}" type="datetimeFigureOut">
              <a:rPr lang="en-IN" smtClean="0"/>
              <a:t>14-10-2026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C9B2E0-7CDC-44AD-B859-109752210CDF}" type="slidenum">
              <a:rPr lang="en-IN" smtClean="0"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6EF38-BCC4-4DB4-8006-7242EDF0AA54}" type="datetime1">
              <a:rPr lang="en-IN" smtClean="0"/>
              <a:t>14-10-2026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Presented by TAC Data Stream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9A9734-26B0-44FC-910E-DC835396DF90}" type="datetime1">
              <a:rPr lang="en-IN" smtClean="0"/>
              <a:t>14-10-2026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Presented by TAC Data Stream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03D3C1-BA39-4E76-A653-9247F65BB297}" type="datetime1">
              <a:rPr lang="en-IN" smtClean="0"/>
              <a:t>14-10-2026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Presented by TAC Data Stream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DEE36-EDE3-4DC0-8F92-80AC6C348809}" type="datetime1">
              <a:rPr lang="en-IN" smtClean="0"/>
              <a:t>14-10-2026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Presented by TAC Data Stream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DBB11-3202-4A77-9B9E-06D8DA216472}" type="datetime1">
              <a:rPr lang="en-IN" smtClean="0"/>
              <a:t>14-10-2026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Presented by TAC Data Stream</a:t>
            </a:r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F4C48-E234-4504-A18C-8880CF66C8BA}" type="datetime1">
              <a:rPr lang="en-IN" smtClean="0"/>
              <a:t>14-10-2026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Presented by TAC Data Stream</a:t>
            </a:r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1C3B6-3A3F-46C1-AE6D-C6F798FDCBC2}" type="datetime1">
              <a:rPr lang="en-IN" smtClean="0"/>
              <a:t>14-10-2026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Presented by TAC Data Stream</a:t>
            </a:r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F70807-197F-4F9E-A0A0-F82704CF2A2E}" type="datetime1">
              <a:rPr lang="en-IN" smtClean="0"/>
              <a:t>14-10-2026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Presented by TAC Data Stream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02460-24FF-41EE-B916-7AFF089965AC}" type="datetime1">
              <a:rPr lang="en-IN" smtClean="0"/>
              <a:t>14-10-2026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Presented by TAC Data Stream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BE5D-6372-464B-BCE6-2C2018A96161}" type="datetime1">
              <a:rPr lang="en-IN" smtClean="0"/>
              <a:t>14-10-2026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Presented by TAC Data Stream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56ADDF-8844-4B12-851D-9922200F89CC}" type="datetime1">
              <a:rPr lang="en-IN" smtClean="0"/>
              <a:t>14-10-2026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Presented by TAC Data Stream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tif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02F9B7-D24E-42A1-8420-CE33906B3FB8}" type="datetime1">
              <a:rPr lang="en-IN" smtClean="0"/>
              <a:t>14-10-2026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Presented by TAC Data Stream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612885-E222-46C0-A73A-0560EABD79A8}" type="slidenum">
              <a:rPr lang="en-IN" smtClean="0"/>
              <a:t>‹#›</a:t>
            </a:fld>
            <a:endParaRPr lang="en-IN"/>
          </a:p>
        </p:txBody>
      </p:sp>
      <p:pic>
        <p:nvPicPr>
          <p:cNvPr id="7" name="Picture 6" descr="Picture 6"/>
          <p:cNvPicPr>
            <a:picLocks noChangeAspect="1"/>
          </p:cNvPicPr>
          <p:nvPr userDrawn="1"/>
        </p:nvPicPr>
        <p:blipFill rotWithShape="1">
          <a:blip r:embed="rId13" cstate="email"/>
          <a:srcRect/>
          <a:stretch>
            <a:fillRect/>
          </a:stretch>
        </p:blipFill>
        <p:spPr>
          <a:xfrm>
            <a:off x="0" y="6368764"/>
            <a:ext cx="361012" cy="377727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14" cstate="email">
            <a:alphaModFix amt="5000"/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>
          <a:xfrm>
            <a:off x="3519746" y="2707292"/>
            <a:ext cx="5152516" cy="1457277"/>
          </a:xfrm>
          <a:prstGeom prst="rect">
            <a:avLst/>
          </a:prstGeom>
        </p:spPr>
      </p:pic>
      <p:grpSp>
        <p:nvGrpSpPr>
          <p:cNvPr id="12" name="Group 11"/>
          <p:cNvGrpSpPr/>
          <p:nvPr userDrawn="1"/>
        </p:nvGrpSpPr>
        <p:grpSpPr>
          <a:xfrm rot="10800000">
            <a:off x="0" y="6736937"/>
            <a:ext cx="12192000" cy="121063"/>
            <a:chOff x="71284" y="-5188"/>
            <a:chExt cx="12192000" cy="121063"/>
          </a:xfrm>
        </p:grpSpPr>
        <p:sp>
          <p:nvSpPr>
            <p:cNvPr id="13" name="Rectangle 12"/>
            <p:cNvSpPr/>
            <p:nvPr userDrawn="1"/>
          </p:nvSpPr>
          <p:spPr>
            <a:xfrm>
              <a:off x="71284" y="2113"/>
              <a:ext cx="12192000" cy="113762"/>
            </a:xfrm>
            <a:prstGeom prst="rect">
              <a:avLst/>
            </a:prstGeom>
            <a:solidFill>
              <a:srgbClr val="E5DC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/>
            <p:cNvSpPr/>
            <p:nvPr userDrawn="1"/>
          </p:nvSpPr>
          <p:spPr>
            <a:xfrm>
              <a:off x="71284" y="-5188"/>
              <a:ext cx="12192000" cy="39872"/>
            </a:xfrm>
            <a:prstGeom prst="rect">
              <a:avLst/>
            </a:prstGeom>
            <a:solidFill>
              <a:srgbClr val="807C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0" y="750"/>
            <a:ext cx="12192000" cy="12192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1B8845-D2C5-5536-A8FF-04653E8B7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z="1000" smtClean="0"/>
              <a:t>1</a:t>
            </a:fld>
            <a:endParaRPr lang="en-IN" sz="1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037355-0C3C-64C1-03B7-6C9BAA0F8EF8}"/>
              </a:ext>
            </a:extLst>
          </p:cNvPr>
          <p:cNvSpPr txBox="1"/>
          <p:nvPr/>
        </p:nvSpPr>
        <p:spPr>
          <a:xfrm>
            <a:off x="2995079" y="2463249"/>
            <a:ext cx="6210125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3200" b="1" dirty="0">
                <a:solidFill>
                  <a:srgbClr val="1F8E91"/>
                </a:solidFill>
                <a:ea typeface="Calibri"/>
                <a:cs typeface="Calibri"/>
              </a:rPr>
              <a:t>Psiog Kendra</a:t>
            </a:r>
          </a:p>
          <a:p>
            <a:pPr algn="ctr"/>
            <a:endParaRPr lang="en-US" sz="2000">
              <a:solidFill>
                <a:schemeClr val="tx1">
                  <a:lumMod val="76000"/>
                  <a:lumOff val="24000"/>
                </a:schemeClr>
              </a:solidFill>
              <a:ea typeface="Calibri"/>
              <a:cs typeface="Calibri"/>
            </a:endParaRPr>
          </a:p>
          <a:p>
            <a:pPr algn="ctr"/>
            <a:r>
              <a:rPr lang="en-US" sz="2000" i="1" dirty="0">
                <a:solidFill>
                  <a:schemeClr val="tx1">
                    <a:lumMod val="76000"/>
                    <a:lumOff val="24000"/>
                  </a:schemeClr>
                </a:solidFill>
              </a:rPr>
              <a:t>GenAI-Powered Enterprise Copilot</a:t>
            </a:r>
            <a:endParaRPr lang="en-US" i="1" dirty="0">
              <a:solidFill>
                <a:schemeClr val="tx1">
                  <a:lumMod val="76000"/>
                  <a:lumOff val="24000"/>
                </a:schemeClr>
              </a:solidFill>
            </a:endParaRPr>
          </a:p>
          <a:p>
            <a:pPr algn="ctr"/>
            <a:r>
              <a:rPr lang="en-US" sz="2000" i="1" dirty="0">
                <a:solidFill>
                  <a:schemeClr val="tx1">
                    <a:lumMod val="76000"/>
                    <a:lumOff val="24000"/>
                  </a:schemeClr>
                </a:solidFill>
              </a:rPr>
              <a:t>Live Review — RFP S4-I-24</a:t>
            </a:r>
            <a:endParaRPr lang="en-US" i="1" dirty="0">
              <a:solidFill>
                <a:schemeClr val="tx1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5C6A2C-4B51-1564-7104-6C17CD775A20}"/>
              </a:ext>
            </a:extLst>
          </p:cNvPr>
          <p:cNvSpPr txBox="1"/>
          <p:nvPr/>
        </p:nvSpPr>
        <p:spPr>
          <a:xfrm>
            <a:off x="10082596" y="241514"/>
            <a:ext cx="1895186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rgbClr val="1F8E91"/>
                </a:solidFill>
                <a:ea typeface="Calibri"/>
                <a:cs typeface="Calibri"/>
              </a:rPr>
              <a:t>S4-I-24</a:t>
            </a:r>
            <a:endParaRPr lang="en-US" dirty="0">
              <a:solidFill>
                <a:srgbClr val="FF0000"/>
              </a:solidFill>
              <a:ea typeface="Calibri"/>
              <a:cs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D372F4-5000-D38D-DB2F-E0411A6A93B3}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54C02FF-9BCB-7E26-EA32-0FD6756D0DF4}"/>
              </a:ext>
            </a:extLst>
          </p:cNvPr>
          <p:cNvGrpSpPr/>
          <p:nvPr/>
        </p:nvGrpSpPr>
        <p:grpSpPr>
          <a:xfrm rot="2700000">
            <a:off x="10967489" y="2157469"/>
            <a:ext cx="2008299" cy="2041410"/>
            <a:chOff x="10967489" y="2157469"/>
            <a:chExt cx="1316462" cy="1323298"/>
          </a:xfrm>
        </p:grpSpPr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4A39FF88-710F-BA83-9BCF-5D26BDE7127E}"/>
                </a:ext>
              </a:extLst>
            </p:cNvPr>
            <p:cNvSpPr/>
            <p:nvPr/>
          </p:nvSpPr>
          <p:spPr>
            <a:xfrm>
              <a:off x="10967489" y="2195569"/>
              <a:ext cx="1316462" cy="1285198"/>
            </a:xfrm>
            <a:custGeom>
              <a:avLst/>
              <a:gdLst/>
              <a:ahLst/>
              <a:cxnLst/>
              <a:rect l="l" t="t" r="r" b="b"/>
              <a:pathLst>
                <a:path w="1316462" h="1285198">
                  <a:moveTo>
                    <a:pt x="0" y="0"/>
                  </a:moveTo>
                  <a:lnTo>
                    <a:pt x="1316462" y="0"/>
                  </a:lnTo>
                  <a:lnTo>
                    <a:pt x="1316462" y="1285198"/>
                  </a:lnTo>
                  <a:lnTo>
                    <a:pt x="0" y="1285198"/>
                  </a:lnTo>
                  <a:close/>
                </a:path>
              </a:pathLst>
            </a:custGeom>
            <a:solidFill>
              <a:srgbClr val="DCD400"/>
            </a:solidFill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7">
              <a:extLst>
                <a:ext uri="{FF2B5EF4-FFF2-40B4-BE49-F238E27FC236}">
                  <a16:creationId xmlns:a16="http://schemas.microsoft.com/office/drawing/2014/main" id="{50DFF37D-AE56-1A28-056C-B7BD1B5F56A0}"/>
                </a:ext>
              </a:extLst>
            </p:cNvPr>
            <p:cNvSpPr txBox="1"/>
            <p:nvPr/>
          </p:nvSpPr>
          <p:spPr>
            <a:xfrm>
              <a:off x="10967489" y="2157469"/>
              <a:ext cx="1316462" cy="1323298"/>
            </a:xfrm>
            <a:prstGeom prst="rect">
              <a:avLst/>
            </a:prstGeom>
          </p:spPr>
          <p:txBody>
            <a:bodyPr lIns="33867" tIns="33867" rIns="33867" bIns="33867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773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6867A553-EC1F-8F54-A819-6EB5A46715E1}"/>
              </a:ext>
            </a:extLst>
          </p:cNvPr>
          <p:cNvGrpSpPr/>
          <p:nvPr/>
        </p:nvGrpSpPr>
        <p:grpSpPr>
          <a:xfrm rot="2700000">
            <a:off x="8699025" y="2147080"/>
            <a:ext cx="2008299" cy="2041410"/>
            <a:chOff x="8699025" y="2147080"/>
            <a:chExt cx="1316462" cy="1323298"/>
          </a:xfrm>
          <a:solidFill>
            <a:srgbClr val="1F8E91"/>
          </a:solidFill>
        </p:grpSpPr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25B957A0-07F7-6F9E-C3B4-088C0B3689E9}"/>
                </a:ext>
              </a:extLst>
            </p:cNvPr>
            <p:cNvSpPr/>
            <p:nvPr/>
          </p:nvSpPr>
          <p:spPr>
            <a:xfrm>
              <a:off x="8699025" y="2185180"/>
              <a:ext cx="1316462" cy="1285198"/>
            </a:xfrm>
            <a:custGeom>
              <a:avLst/>
              <a:gdLst/>
              <a:ahLst/>
              <a:cxnLst/>
              <a:rect l="l" t="t" r="r" b="b"/>
              <a:pathLst>
                <a:path w="1316462" h="1285198">
                  <a:moveTo>
                    <a:pt x="0" y="0"/>
                  </a:moveTo>
                  <a:lnTo>
                    <a:pt x="1316462" y="0"/>
                  </a:lnTo>
                  <a:lnTo>
                    <a:pt x="1316462" y="1285198"/>
                  </a:lnTo>
                  <a:lnTo>
                    <a:pt x="0" y="1285198"/>
                  </a:lnTo>
                  <a:close/>
                </a:path>
              </a:pathLst>
            </a:custGeom>
            <a:grpFill/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TextBox 7">
              <a:extLst>
                <a:ext uri="{FF2B5EF4-FFF2-40B4-BE49-F238E27FC236}">
                  <a16:creationId xmlns:a16="http://schemas.microsoft.com/office/drawing/2014/main" id="{10561BAC-6CCF-13CB-E5B3-583A63F887D9}"/>
                </a:ext>
              </a:extLst>
            </p:cNvPr>
            <p:cNvSpPr txBox="1"/>
            <p:nvPr/>
          </p:nvSpPr>
          <p:spPr>
            <a:xfrm>
              <a:off x="8699025" y="2147080"/>
              <a:ext cx="1316462" cy="1323298"/>
            </a:xfrm>
            <a:prstGeom prst="rect">
              <a:avLst/>
            </a:prstGeom>
            <a:grpFill/>
          </p:spPr>
          <p:txBody>
            <a:bodyPr lIns="33867" tIns="33867" rIns="33867" bIns="33867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773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9BFECA43-30DB-4841-11B6-25BA767A2B0B}"/>
              </a:ext>
            </a:extLst>
          </p:cNvPr>
          <p:cNvGrpSpPr/>
          <p:nvPr/>
        </p:nvGrpSpPr>
        <p:grpSpPr>
          <a:xfrm rot="2700000">
            <a:off x="9987076" y="2167860"/>
            <a:ext cx="2008299" cy="2041410"/>
            <a:chOff x="9987076" y="2167860"/>
            <a:chExt cx="1316462" cy="1323298"/>
          </a:xfrm>
          <a:solidFill>
            <a:srgbClr val="1F8E91"/>
          </a:solidFill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E6A6E56D-A13F-2CD9-C7B5-6C9FC55F1A45}"/>
                </a:ext>
              </a:extLst>
            </p:cNvPr>
            <p:cNvSpPr/>
            <p:nvPr/>
          </p:nvSpPr>
          <p:spPr>
            <a:xfrm>
              <a:off x="9987076" y="2205960"/>
              <a:ext cx="1316462" cy="1285198"/>
            </a:xfrm>
            <a:custGeom>
              <a:avLst/>
              <a:gdLst/>
              <a:ahLst/>
              <a:cxnLst/>
              <a:rect l="l" t="t" r="r" b="b"/>
              <a:pathLst>
                <a:path w="1316462" h="1285198">
                  <a:moveTo>
                    <a:pt x="0" y="0"/>
                  </a:moveTo>
                  <a:lnTo>
                    <a:pt x="1316462" y="0"/>
                  </a:lnTo>
                  <a:lnTo>
                    <a:pt x="1316462" y="1285198"/>
                  </a:lnTo>
                  <a:lnTo>
                    <a:pt x="0" y="1285198"/>
                  </a:lnTo>
                  <a:close/>
                </a:path>
              </a:pathLst>
            </a:custGeom>
            <a:grpFill/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TextBox 7">
              <a:extLst>
                <a:ext uri="{FF2B5EF4-FFF2-40B4-BE49-F238E27FC236}">
                  <a16:creationId xmlns:a16="http://schemas.microsoft.com/office/drawing/2014/main" id="{845BF228-1FAC-F571-C341-A2103AD44EC4}"/>
                </a:ext>
              </a:extLst>
            </p:cNvPr>
            <p:cNvSpPr txBox="1"/>
            <p:nvPr/>
          </p:nvSpPr>
          <p:spPr>
            <a:xfrm>
              <a:off x="9987076" y="2167860"/>
              <a:ext cx="1316462" cy="1323298"/>
            </a:xfrm>
            <a:prstGeom prst="rect">
              <a:avLst/>
            </a:prstGeom>
            <a:solidFill>
              <a:srgbClr val="2DB6BB"/>
            </a:solidFill>
          </p:spPr>
          <p:txBody>
            <a:bodyPr lIns="33867" tIns="33867" rIns="33867" bIns="33867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773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1A8E5D3-2781-4E0C-7785-C8B5368E0FED}"/>
              </a:ext>
            </a:extLst>
          </p:cNvPr>
          <p:cNvGrpSpPr/>
          <p:nvPr/>
        </p:nvGrpSpPr>
        <p:grpSpPr>
          <a:xfrm>
            <a:off x="-262562" y="2213083"/>
            <a:ext cx="525124" cy="2026921"/>
            <a:chOff x="-262562" y="2213083"/>
            <a:chExt cx="207456" cy="800759"/>
          </a:xfrm>
        </p:grpSpPr>
        <p:sp>
          <p:nvSpPr>
            <p:cNvPr id="17" name="Freeform 3">
              <a:extLst>
                <a:ext uri="{FF2B5EF4-FFF2-40B4-BE49-F238E27FC236}">
                  <a16:creationId xmlns:a16="http://schemas.microsoft.com/office/drawing/2014/main" id="{F633C376-D099-53BD-AC14-9784BB65FCEE}"/>
                </a:ext>
              </a:extLst>
            </p:cNvPr>
            <p:cNvSpPr/>
            <p:nvPr/>
          </p:nvSpPr>
          <p:spPr>
            <a:xfrm>
              <a:off x="-262562" y="2251183"/>
              <a:ext cx="207456" cy="762659"/>
            </a:xfrm>
            <a:custGeom>
              <a:avLst/>
              <a:gdLst/>
              <a:ahLst/>
              <a:cxnLst/>
              <a:rect l="l" t="t" r="r" b="b"/>
              <a:pathLst>
                <a:path w="207456" h="762659">
                  <a:moveTo>
                    <a:pt x="0" y="0"/>
                  </a:moveTo>
                  <a:lnTo>
                    <a:pt x="207456" y="0"/>
                  </a:lnTo>
                  <a:lnTo>
                    <a:pt x="207456" y="762659"/>
                  </a:lnTo>
                  <a:lnTo>
                    <a:pt x="0" y="762659"/>
                  </a:lnTo>
                  <a:close/>
                </a:path>
              </a:pathLst>
            </a:custGeom>
            <a:solidFill>
              <a:srgbClr val="2DB6BB"/>
            </a:solidFill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TextBox 4">
              <a:extLst>
                <a:ext uri="{FF2B5EF4-FFF2-40B4-BE49-F238E27FC236}">
                  <a16:creationId xmlns:a16="http://schemas.microsoft.com/office/drawing/2014/main" id="{3E6D8649-67A3-98BD-AF25-CC3125B02CEF}"/>
                </a:ext>
              </a:extLst>
            </p:cNvPr>
            <p:cNvSpPr txBox="1"/>
            <p:nvPr/>
          </p:nvSpPr>
          <p:spPr>
            <a:xfrm>
              <a:off x="-262562" y="2213083"/>
              <a:ext cx="207456" cy="800759"/>
            </a:xfrm>
            <a:prstGeom prst="rect">
              <a:avLst/>
            </a:prstGeom>
          </p:spPr>
          <p:txBody>
            <a:bodyPr lIns="33867" tIns="33867" rIns="33867" bIns="33867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773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32" name="TextBox 1031"/>
          <p:cNvSpPr txBox="1"/>
          <p:nvPr/>
        </p:nvSpPr>
        <p:spPr>
          <a:xfrm>
            <a:off x="1828800" y="3977639"/>
            <a:ext cx="853135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>
                <a:solidFill>
                  <a:srgbClr val="5B6B6B"/>
                </a:solidFill>
                <a:latin typeface="Calibri"/>
              </a:rPr>
              <a:t>Sridhar Vetrivel  ·  Semester 4 Capstone</a:t>
            </a:r>
          </a:p>
        </p:txBody>
      </p:sp>
    </p:spTree>
    <p:extLst>
      <p:ext uri="{BB962C8B-B14F-4D97-AF65-F5344CB8AC3E}">
        <p14:creationId xmlns:p14="http://schemas.microsoft.com/office/powerpoint/2010/main" val="40316631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E3FC1-2107-892F-FAE9-D9CA97F64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321D49A5-25B9-2506-98B9-2024B79533F0}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640418-4388-AD2B-2ED9-220F6B606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z="1000" smtClean="0"/>
              <a:t>2</a:t>
            </a:fld>
            <a:endParaRPr lang="en-IN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A31EBF-DAF5-4757-1C0C-938FD0FC0A56}"/>
              </a:ext>
            </a:extLst>
          </p:cNvPr>
          <p:cNvSpPr txBox="1"/>
          <p:nvPr/>
        </p:nvSpPr>
        <p:spPr>
          <a:xfrm>
            <a:off x="475900" y="302190"/>
            <a:ext cx="11308812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>
                <a:solidFill>
                  <a:srgbClr val="1F8E91"/>
                </a:solidFill>
                <a:ea typeface="Calibri"/>
                <a:cs typeface="Calibri"/>
              </a:rPr>
              <a:t>Agenda</a:t>
            </a:r>
          </a:p>
        </p:txBody>
      </p:sp>
      <p:sp>
        <p:nvSpPr>
          <p:cNvPr id="1032" name="TextBox 1031"/>
          <p:cNvSpPr txBox="1"/>
          <p:nvPr/>
        </p:nvSpPr>
        <p:spPr>
          <a:xfrm>
            <a:off x="548640" y="1143000"/>
            <a:ext cx="5303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F8E91"/>
                </a:solidFill>
                <a:latin typeface="Calibri"/>
              </a:rPr>
              <a:t>RFP Evaluation Criteria</a:t>
            </a:r>
          </a:p>
        </p:txBody>
      </p:sp>
      <p:sp>
        <p:nvSpPr>
          <p:cNvPr id="1033" name="Oval 1032"/>
          <p:cNvSpPr/>
          <p:nvPr/>
        </p:nvSpPr>
        <p:spPr>
          <a:xfrm>
            <a:off x="548640" y="1600200"/>
            <a:ext cx="73152" cy="73152"/>
          </a:xfrm>
          <a:prstGeom prst="ellipse">
            <a:avLst/>
          </a:prstGeom>
          <a:solidFill>
            <a:srgbClr val="2DB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4" name="TextBox 1033"/>
          <p:cNvSpPr txBox="1"/>
          <p:nvPr/>
        </p:nvSpPr>
        <p:spPr>
          <a:xfrm>
            <a:off x="777240" y="1472184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263030"/>
                </a:solidFill>
                <a:latin typeface="Calibri"/>
              </a:rPr>
              <a:t>Problem Understanding</a:t>
            </a:r>
          </a:p>
        </p:txBody>
      </p:sp>
      <p:sp>
        <p:nvSpPr>
          <p:cNvPr id="1035" name="Oval 1034"/>
          <p:cNvSpPr/>
          <p:nvPr/>
        </p:nvSpPr>
        <p:spPr>
          <a:xfrm>
            <a:off x="548640" y="2130552"/>
            <a:ext cx="73152" cy="73152"/>
          </a:xfrm>
          <a:prstGeom prst="ellipse">
            <a:avLst/>
          </a:prstGeom>
          <a:solidFill>
            <a:srgbClr val="2DB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6" name="TextBox 1035"/>
          <p:cNvSpPr txBox="1"/>
          <p:nvPr/>
        </p:nvSpPr>
        <p:spPr>
          <a:xfrm>
            <a:off x="777240" y="2002536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263030"/>
                </a:solidFill>
                <a:latin typeface="Calibri"/>
              </a:rPr>
              <a:t>Solution Quality</a:t>
            </a:r>
          </a:p>
        </p:txBody>
      </p:sp>
      <p:sp>
        <p:nvSpPr>
          <p:cNvPr id="1037" name="Oval 1036"/>
          <p:cNvSpPr/>
          <p:nvPr/>
        </p:nvSpPr>
        <p:spPr>
          <a:xfrm>
            <a:off x="548640" y="2660904"/>
            <a:ext cx="73152" cy="73152"/>
          </a:xfrm>
          <a:prstGeom prst="ellipse">
            <a:avLst/>
          </a:prstGeom>
          <a:solidFill>
            <a:srgbClr val="2DB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8" name="TextBox 1037"/>
          <p:cNvSpPr txBox="1"/>
          <p:nvPr/>
        </p:nvSpPr>
        <p:spPr>
          <a:xfrm>
            <a:off x="777240" y="2532888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263030"/>
                </a:solidFill>
                <a:latin typeface="Calibri"/>
              </a:rPr>
              <a:t>AI Integration Depth</a:t>
            </a:r>
          </a:p>
        </p:txBody>
      </p:sp>
      <p:sp>
        <p:nvSpPr>
          <p:cNvPr id="1039" name="Oval 1038"/>
          <p:cNvSpPr/>
          <p:nvPr/>
        </p:nvSpPr>
        <p:spPr>
          <a:xfrm>
            <a:off x="548640" y="3191256"/>
            <a:ext cx="73152" cy="73152"/>
          </a:xfrm>
          <a:prstGeom prst="ellipse">
            <a:avLst/>
          </a:prstGeom>
          <a:solidFill>
            <a:srgbClr val="2DB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0" name="TextBox 1039"/>
          <p:cNvSpPr txBox="1"/>
          <p:nvPr/>
        </p:nvSpPr>
        <p:spPr>
          <a:xfrm>
            <a:off x="777240" y="306324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263030"/>
                </a:solidFill>
                <a:latin typeface="Calibri"/>
              </a:rPr>
              <a:t>QA Strategy</a:t>
            </a:r>
          </a:p>
        </p:txBody>
      </p:sp>
      <p:sp>
        <p:nvSpPr>
          <p:cNvPr id="1041" name="Oval 1040"/>
          <p:cNvSpPr/>
          <p:nvPr/>
        </p:nvSpPr>
        <p:spPr>
          <a:xfrm>
            <a:off x="548640" y="3721608"/>
            <a:ext cx="73152" cy="73152"/>
          </a:xfrm>
          <a:prstGeom prst="ellipse">
            <a:avLst/>
          </a:prstGeom>
          <a:solidFill>
            <a:srgbClr val="2DB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2" name="TextBox 1041"/>
          <p:cNvSpPr txBox="1"/>
          <p:nvPr/>
        </p:nvSpPr>
        <p:spPr>
          <a:xfrm>
            <a:off x="777240" y="3593592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263030"/>
                </a:solidFill>
                <a:latin typeface="Calibri"/>
              </a:rPr>
              <a:t>Budget &amp; Cost Justification</a:t>
            </a:r>
          </a:p>
        </p:txBody>
      </p:sp>
      <p:sp>
        <p:nvSpPr>
          <p:cNvPr id="1043" name="Oval 1042"/>
          <p:cNvSpPr/>
          <p:nvPr/>
        </p:nvSpPr>
        <p:spPr>
          <a:xfrm>
            <a:off x="548640" y="4251960"/>
            <a:ext cx="73152" cy="73152"/>
          </a:xfrm>
          <a:prstGeom prst="ellipse">
            <a:avLst/>
          </a:prstGeom>
          <a:solidFill>
            <a:srgbClr val="2DB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4" name="TextBox 1043"/>
          <p:cNvSpPr txBox="1"/>
          <p:nvPr/>
        </p:nvSpPr>
        <p:spPr>
          <a:xfrm>
            <a:off x="777240" y="4123944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263030"/>
                </a:solidFill>
                <a:latin typeface="Calibri"/>
              </a:rPr>
              <a:t>Timeline Feasibility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6492240" y="114300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F8E91"/>
                </a:solidFill>
                <a:latin typeface="Calibri"/>
              </a:rPr>
              <a:t>Also Covered</a:t>
            </a:r>
          </a:p>
        </p:txBody>
      </p:sp>
      <p:sp>
        <p:nvSpPr>
          <p:cNvPr id="1046" name="Oval 1045"/>
          <p:cNvSpPr/>
          <p:nvPr/>
        </p:nvSpPr>
        <p:spPr>
          <a:xfrm>
            <a:off x="6492240" y="1691640"/>
            <a:ext cx="73152" cy="73152"/>
          </a:xfrm>
          <a:prstGeom prst="ellipse">
            <a:avLst/>
          </a:prstGeom>
          <a:solidFill>
            <a:srgbClr val="DCD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7" name="TextBox 1046"/>
          <p:cNvSpPr txBox="1"/>
          <p:nvPr/>
        </p:nvSpPr>
        <p:spPr>
          <a:xfrm>
            <a:off x="6720840" y="1563624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263030"/>
                </a:solidFill>
                <a:latin typeface="Calibri"/>
              </a:rPr>
              <a:t>Scope Decisions — what changed, and why</a:t>
            </a:r>
          </a:p>
        </p:txBody>
      </p:sp>
      <p:sp>
        <p:nvSpPr>
          <p:cNvPr id="1048" name="Oval 1047"/>
          <p:cNvSpPr/>
          <p:nvPr/>
        </p:nvSpPr>
        <p:spPr>
          <a:xfrm>
            <a:off x="6492240" y="2313432"/>
            <a:ext cx="73152" cy="73152"/>
          </a:xfrm>
          <a:prstGeom prst="ellipse">
            <a:avLst/>
          </a:prstGeom>
          <a:solidFill>
            <a:srgbClr val="DCD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9" name="TextBox 1048"/>
          <p:cNvSpPr txBox="1"/>
          <p:nvPr/>
        </p:nvSpPr>
        <p:spPr>
          <a:xfrm>
            <a:off x="6720840" y="2185416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263030"/>
                </a:solidFill>
                <a:latin typeface="Calibri"/>
              </a:rPr>
              <a:t>Live Walkthrough Plan — what we will demonstrate</a:t>
            </a:r>
          </a:p>
        </p:txBody>
      </p:sp>
    </p:spTree>
    <p:extLst>
      <p:ext uri="{BB962C8B-B14F-4D97-AF65-F5344CB8AC3E}">
        <p14:creationId xmlns:p14="http://schemas.microsoft.com/office/powerpoint/2010/main" val="23054563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E3FC1-2107-892F-FAE9-D9CA97F64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321D49A5-25B9-2506-98B9-2024B79533F0}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640418-4388-AD2B-2ED9-220F6B606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z="1000" smtClean="0"/>
              <a:t>3</a:t>
            </a:fld>
            <a:endParaRPr lang="en-IN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A31EBF-DAF5-4757-1C0C-938FD0FC0A56}"/>
              </a:ext>
            </a:extLst>
          </p:cNvPr>
          <p:cNvSpPr txBox="1"/>
          <p:nvPr/>
        </p:nvSpPr>
        <p:spPr>
          <a:xfrm>
            <a:off x="475900" y="302190"/>
            <a:ext cx="932688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>
                <a:solidFill>
                  <a:srgbClr val="1F8E91"/>
                </a:solidFill>
                <a:ea typeface="Calibri"/>
                <a:cs typeface="Calibri"/>
              </a:rPr>
              <a:t>Problem Understanding</a:t>
            </a:r>
          </a:p>
        </p:txBody>
      </p:sp>
      <p:sp>
        <p:nvSpPr>
          <p:cNvPr id="2001" name="TextBox 2001"/>
          <p:cNvSpPr txBox="1"/>
          <p:nvPr/>
        </p:nvSpPr>
        <p:spPr>
          <a:xfrm>
            <a:off x="475488" y="914400"/>
            <a:ext cx="5102352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600" b="1" i="0">
                <a:solidFill>
                  <a:srgbClr val="1F8E91"/>
                </a:solidFill>
                <a:latin typeface="Calibri"/>
              </a:rPr>
              <a:t>The Problem</a:t>
            </a:r>
          </a:p>
        </p:txBody>
      </p:sp>
      <p:sp>
        <p:nvSpPr>
          <p:cNvPr id="2002" name="TextBox 2002"/>
          <p:cNvSpPr txBox="1"/>
          <p:nvPr/>
        </p:nvSpPr>
        <p:spPr>
          <a:xfrm>
            <a:off x="475488" y="1188720"/>
            <a:ext cx="5102352" cy="17373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63030"/>
                </a:solidFill>
                <a:latin typeface="Calibri"/>
              </a:rPr>
              <a:t>Psiog's engineering, data, and ops teams work across a growing estate — data platforms, DevOps pipelines, CRM, and internal documentation — with no common interface between them. Platform knowledge concentrates in a few senior engineers, there is no multi-agent architecture to route domain-specific queries to the right specialist, and no grounding layer to stop an assistant answering from training data instead of live system state.</a:t>
            </a:r>
          </a:p>
        </p:txBody>
      </p:sp>
      <p:sp>
        <p:nvSpPr>
          <p:cNvPr id="2003" name="TextBox 2003"/>
          <p:cNvSpPr txBox="1"/>
          <p:nvPr/>
        </p:nvSpPr>
        <p:spPr>
          <a:xfrm>
            <a:off x="475488" y="3035808"/>
            <a:ext cx="5102352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600" b="1" i="0">
                <a:solidFill>
                  <a:srgbClr val="1F8E91"/>
                </a:solidFill>
                <a:latin typeface="Calibri"/>
              </a:rPr>
              <a:t>Our Understanding &amp; Approach</a:t>
            </a:r>
          </a:p>
        </p:txBody>
      </p:sp>
      <p:sp>
        <p:nvSpPr>
          <p:cNvPr id="2004" name="TextBox 2004"/>
          <p:cNvSpPr txBox="1"/>
          <p:nvPr/>
        </p:nvSpPr>
        <p:spPr>
          <a:xfrm>
            <a:off x="475488" y="3310128"/>
            <a:ext cx="5102352" cy="15087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63030"/>
                </a:solidFill>
                <a:latin typeface="Calibri"/>
              </a:rPr>
              <a:t>We read this as four distinct problems, not one generalist prompt. Psiog Kendra assigns one specialist agent per domain and a coordinator that classifies intent by LLM, not keywords. Every answer is grounded and cited to the exact job run, deployment, or runbook behind it — so the knowledge moves into a system of record instead of staying in one person’s head.</a:t>
            </a:r>
          </a:p>
        </p:txBody>
      </p:sp>
      <p:sp>
        <p:nvSpPr>
          <p:cNvPr id="3001" name="Rounded Rectangle 301"/>
          <p:cNvSpPr/>
          <p:nvPr/>
        </p:nvSpPr>
        <p:spPr>
          <a:xfrm>
            <a:off x="5943600" y="914400"/>
            <a:ext cx="2770632" cy="64008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1" name="TextBox 3011"/>
          <p:cNvSpPr txBox="1"/>
          <p:nvPr/>
        </p:nvSpPr>
        <p:spPr>
          <a:xfrm>
            <a:off x="6035040" y="914400"/>
            <a:ext cx="2587752" cy="6400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300" b="1" i="0">
                <a:solidFill>
                  <a:srgbClr val="263030"/>
                </a:solidFill>
                <a:latin typeface="Calibri"/>
              </a:rPr>
              <a:t>Databricks</a:t>
            </a:r>
          </a:p>
        </p:txBody>
      </p:sp>
      <p:sp>
        <p:nvSpPr>
          <p:cNvPr id="3002" name="Rounded Rectangle 302"/>
          <p:cNvSpPr/>
          <p:nvPr/>
        </p:nvSpPr>
        <p:spPr>
          <a:xfrm>
            <a:off x="8942832" y="914400"/>
            <a:ext cx="2770632" cy="64008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2" name="TextBox 3012"/>
          <p:cNvSpPr txBox="1"/>
          <p:nvPr/>
        </p:nvSpPr>
        <p:spPr>
          <a:xfrm>
            <a:off x="9034272" y="914400"/>
            <a:ext cx="2587752" cy="6400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300" b="1" i="0">
                <a:solidFill>
                  <a:srgbClr val="263030"/>
                </a:solidFill>
                <a:latin typeface="Calibri"/>
              </a:rPr>
              <a:t>GitHub /</a:t>
            </a:r>
          </a:p>
          <a:p>
            <a:pPr algn="ctr"/>
            <a:r>
              <a:rPr sz="1300" b="1" i="0">
                <a:solidFill>
                  <a:srgbClr val="263030"/>
                </a:solidFill>
                <a:latin typeface="Calibri"/>
              </a:rPr>
              <a:t>Azure DevOps</a:t>
            </a:r>
          </a:p>
        </p:txBody>
      </p:sp>
      <p:sp>
        <p:nvSpPr>
          <p:cNvPr id="3003" name="Rounded Rectangle 303"/>
          <p:cNvSpPr/>
          <p:nvPr/>
        </p:nvSpPr>
        <p:spPr>
          <a:xfrm>
            <a:off x="5943600" y="1783080"/>
            <a:ext cx="2770632" cy="64008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3" name="TextBox 3013"/>
          <p:cNvSpPr txBox="1"/>
          <p:nvPr/>
        </p:nvSpPr>
        <p:spPr>
          <a:xfrm>
            <a:off x="6035040" y="1783080"/>
            <a:ext cx="2587752" cy="6400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300" b="1" i="0">
                <a:solidFill>
                  <a:srgbClr val="263030"/>
                </a:solidFill>
                <a:latin typeface="Calibri"/>
              </a:rPr>
              <a:t>CRM</a:t>
            </a:r>
          </a:p>
        </p:txBody>
      </p:sp>
      <p:sp>
        <p:nvSpPr>
          <p:cNvPr id="3004" name="Rounded Rectangle 304"/>
          <p:cNvSpPr/>
          <p:nvPr/>
        </p:nvSpPr>
        <p:spPr>
          <a:xfrm>
            <a:off x="8942832" y="1783080"/>
            <a:ext cx="2770632" cy="64008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4" name="TextBox 3014"/>
          <p:cNvSpPr txBox="1"/>
          <p:nvPr/>
        </p:nvSpPr>
        <p:spPr>
          <a:xfrm>
            <a:off x="9034272" y="1783080"/>
            <a:ext cx="2587752" cy="6400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300" b="1" i="0">
                <a:solidFill>
                  <a:srgbClr val="263030"/>
                </a:solidFill>
                <a:latin typeface="Calibri"/>
              </a:rPr>
              <a:t>Internal Docs</a:t>
            </a:r>
          </a:p>
        </p:txBody>
      </p:sp>
      <p:cxnSp>
        <p:nvCxnSpPr>
          <p:cNvPr id="3020" name="Connector 3020"/>
          <p:cNvCxnSpPr/>
          <p:nvPr/>
        </p:nvCxnSpPr>
        <p:spPr>
          <a:xfrm>
            <a:off x="8828532" y="2423160"/>
            <a:ext cx="0" cy="228600"/>
          </a:xfrm>
          <a:prstGeom prst="line">
            <a:avLst/>
          </a:prstGeom>
          <a:ln w="15875">
            <a:solidFill>
              <a:srgbClr val="5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1" name="Rounded Rectangle 3021"/>
          <p:cNvSpPr/>
          <p:nvPr/>
        </p:nvSpPr>
        <p:spPr>
          <a:xfrm>
            <a:off x="5943600" y="2651760"/>
            <a:ext cx="5769864" cy="640080"/>
          </a:xfrm>
          <a:prstGeom prst="roundRect">
            <a:avLst>
              <a:gd name="adj" fmla="val 6000"/>
            </a:avLst>
          </a:prstGeom>
          <a:solidFill>
            <a:srgbClr val="1F8E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22" name="TextBox 3022"/>
          <p:cNvSpPr txBox="1"/>
          <p:nvPr/>
        </p:nvSpPr>
        <p:spPr>
          <a:xfrm>
            <a:off x="6126480" y="2651760"/>
            <a:ext cx="5404104" cy="6400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Tribal knowledge bottleneck</a:t>
            </a:r>
          </a:p>
        </p:txBody>
      </p:sp>
      <p:cxnSp>
        <p:nvCxnSpPr>
          <p:cNvPr id="3023" name="Connector 3023"/>
          <p:cNvCxnSpPr/>
          <p:nvPr/>
        </p:nvCxnSpPr>
        <p:spPr>
          <a:xfrm>
            <a:off x="8828532" y="3291840"/>
            <a:ext cx="0" cy="228600"/>
          </a:xfrm>
          <a:prstGeom prst="line">
            <a:avLst/>
          </a:prstGeom>
          <a:ln w="15875">
            <a:solidFill>
              <a:srgbClr val="5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4" name="Rounded Rectangle 3024"/>
          <p:cNvSpPr/>
          <p:nvPr/>
        </p:nvSpPr>
        <p:spPr>
          <a:xfrm>
            <a:off x="5943600" y="3520440"/>
            <a:ext cx="5769864" cy="118872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 w="12700">
            <a:solidFill>
              <a:srgbClr val="2DB6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25" name="TextBox 3025"/>
          <p:cNvSpPr txBox="1"/>
          <p:nvPr/>
        </p:nvSpPr>
        <p:spPr>
          <a:xfrm>
            <a:off x="6172200" y="3520440"/>
            <a:ext cx="5312664" cy="118872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63030"/>
                </a:solidFill>
                <a:latin typeface="Calibri"/>
              </a:rPr>
              <a:t>The real risk: an ungrounded AI answer is confidently wrong — worse than no assistant at all</a:t>
            </a:r>
          </a:p>
        </p:txBody>
      </p:sp>
    </p:spTree>
    <p:extLst>
      <p:ext uri="{BB962C8B-B14F-4D97-AF65-F5344CB8AC3E}">
        <p14:creationId xmlns:p14="http://schemas.microsoft.com/office/powerpoint/2010/main" val="23054563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E3FC1-2107-892F-FAE9-D9CA97F64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321D49A5-25B9-2506-98B9-2024B79533F0}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640418-4388-AD2B-2ED9-220F6B606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z="1000" smtClean="0"/>
              <a:t>4</a:t>
            </a:fld>
            <a:endParaRPr lang="en-IN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A31EBF-DAF5-4757-1C0C-938FD0FC0A56}"/>
              </a:ext>
            </a:extLst>
          </p:cNvPr>
          <p:cNvSpPr txBox="1"/>
          <p:nvPr/>
        </p:nvSpPr>
        <p:spPr>
          <a:xfrm>
            <a:off x="475900" y="302190"/>
            <a:ext cx="932688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>
                <a:solidFill>
                  <a:srgbClr val="1F8E91"/>
                </a:solidFill>
                <a:ea typeface="Calibri"/>
                <a:cs typeface="Calibri"/>
              </a:rPr>
              <a:t>Architecture</a:t>
            </a:r>
          </a:p>
        </p:txBody>
      </p:sp>
      <p:sp>
        <p:nvSpPr>
          <p:cNvPr id="3001" name="Box 3001"/>
          <p:cNvSpPr/>
          <p:nvPr/>
        </p:nvSpPr>
        <p:spPr>
          <a:xfrm>
            <a:off x="411480" y="914400"/>
            <a:ext cx="9006840" cy="502920"/>
          </a:xfrm>
          <a:prstGeom prst="roundRect">
            <a:avLst>
              <a:gd name="adj" fmla="val 6000"/>
            </a:avLst>
          </a:prstGeom>
          <a:solidFill>
            <a:srgbClr val="DBE4FF"/>
          </a:solidFill>
          <a:ln w="19050">
            <a:solidFill>
              <a:srgbClr val="1971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02" name="Label 3002"/>
          <p:cNvSpPr txBox="1"/>
          <p:nvPr/>
        </p:nvSpPr>
        <p:spPr>
          <a:xfrm>
            <a:off x="484632" y="914400"/>
            <a:ext cx="8860536" cy="50292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300" b="1" i="0">
                <a:solidFill>
                  <a:srgbClr val="1971C2"/>
                </a:solidFill>
                <a:latin typeface="Calibri"/>
              </a:rPr>
              <a:t>CLIENT / ACCESS LAYER</a:t>
            </a:r>
          </a:p>
        </p:txBody>
      </p:sp>
      <p:cxnSp>
        <p:nvCxnSpPr>
          <p:cNvPr id="3007" name="Arrow 3008"/>
          <p:cNvCxnSpPr>
            <a:cxnSpLocks/>
            <a:stCxn id="3002" idx="2"/>
          </p:cNvCxnSpPr>
          <p:nvPr/>
        </p:nvCxnSpPr>
        <p:spPr>
          <a:xfrm>
            <a:off x="4914900" y="1417320"/>
            <a:ext cx="0" cy="406591"/>
          </a:xfrm>
          <a:prstGeom prst="line">
            <a:avLst/>
          </a:prstGeom>
          <a:ln w="15875">
            <a:solidFill>
              <a:srgbClr val="4950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9" name="Box 3009"/>
          <p:cNvSpPr/>
          <p:nvPr/>
        </p:nvSpPr>
        <p:spPr>
          <a:xfrm>
            <a:off x="640080" y="2134807"/>
            <a:ext cx="8549640" cy="502920"/>
          </a:xfrm>
          <a:prstGeom prst="roundRect">
            <a:avLst>
              <a:gd name="adj" fmla="val 6000"/>
            </a:avLst>
          </a:prstGeom>
          <a:solidFill>
            <a:srgbClr val="E7EDFF"/>
          </a:solidFill>
          <a:ln w="19050">
            <a:solidFill>
              <a:srgbClr val="3B5BDB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10" name="Label 3010"/>
          <p:cNvSpPr txBox="1"/>
          <p:nvPr/>
        </p:nvSpPr>
        <p:spPr>
          <a:xfrm>
            <a:off x="713232" y="2134807"/>
            <a:ext cx="8403336" cy="50292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300" b="1" i="0">
                <a:solidFill>
                  <a:srgbClr val="3B5BDB"/>
                </a:solidFill>
                <a:latin typeface="Calibri"/>
              </a:rPr>
              <a:t>COORDINATOR AGENT</a:t>
            </a:r>
          </a:p>
        </p:txBody>
      </p:sp>
      <p:cxnSp>
        <p:nvCxnSpPr>
          <p:cNvPr id="3011" name="Fan 3012"/>
          <p:cNvCxnSpPr/>
          <p:nvPr/>
        </p:nvCxnSpPr>
        <p:spPr>
          <a:xfrm flipH="1">
            <a:off x="1708785" y="2637727"/>
            <a:ext cx="3206115" cy="219456"/>
          </a:xfrm>
          <a:prstGeom prst="line">
            <a:avLst/>
          </a:prstGeom>
          <a:ln w="15875">
            <a:solidFill>
              <a:srgbClr val="3B5BD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3" name="Fan 3014"/>
          <p:cNvCxnSpPr/>
          <p:nvPr/>
        </p:nvCxnSpPr>
        <p:spPr>
          <a:xfrm flipH="1">
            <a:off x="3846195" y="2637727"/>
            <a:ext cx="1068705" cy="219456"/>
          </a:xfrm>
          <a:prstGeom prst="line">
            <a:avLst/>
          </a:prstGeom>
          <a:ln w="15875">
            <a:solidFill>
              <a:srgbClr val="3B5BD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5" name="Fan 3016"/>
          <p:cNvCxnSpPr/>
          <p:nvPr/>
        </p:nvCxnSpPr>
        <p:spPr>
          <a:xfrm>
            <a:off x="4914900" y="2637727"/>
            <a:ext cx="1068705" cy="219456"/>
          </a:xfrm>
          <a:prstGeom prst="line">
            <a:avLst/>
          </a:prstGeom>
          <a:ln w="15875">
            <a:solidFill>
              <a:srgbClr val="3B5BD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7" name="Fan 3018"/>
          <p:cNvCxnSpPr/>
          <p:nvPr/>
        </p:nvCxnSpPr>
        <p:spPr>
          <a:xfrm>
            <a:off x="4914900" y="2637727"/>
            <a:ext cx="3206115" cy="219456"/>
          </a:xfrm>
          <a:prstGeom prst="line">
            <a:avLst/>
          </a:prstGeom>
          <a:ln w="15875">
            <a:solidFill>
              <a:srgbClr val="3B5BD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9" name="Box 3019"/>
          <p:cNvSpPr/>
          <p:nvPr/>
        </p:nvSpPr>
        <p:spPr>
          <a:xfrm>
            <a:off x="640080" y="2857183"/>
            <a:ext cx="2000250" cy="594360"/>
          </a:xfrm>
          <a:prstGeom prst="roundRect">
            <a:avLst>
              <a:gd name="adj" fmla="val 6000"/>
            </a:avLst>
          </a:prstGeom>
          <a:solidFill>
            <a:srgbClr val="E3FAFC"/>
          </a:solidFill>
          <a:ln w="19050">
            <a:solidFill>
              <a:srgbClr val="0C859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20" name="Label 3020"/>
          <p:cNvSpPr txBox="1"/>
          <p:nvPr/>
        </p:nvSpPr>
        <p:spPr>
          <a:xfrm>
            <a:off x="713232" y="2857183"/>
            <a:ext cx="1853946" cy="59436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150" b="1" i="0">
                <a:solidFill>
                  <a:srgbClr val="0C8599"/>
                </a:solidFill>
                <a:latin typeface="Calibri"/>
              </a:rPr>
              <a:t>DATA AGENT</a:t>
            </a:r>
          </a:p>
        </p:txBody>
      </p:sp>
      <p:sp>
        <p:nvSpPr>
          <p:cNvPr id="3021" name="Box 3021"/>
          <p:cNvSpPr/>
          <p:nvPr/>
        </p:nvSpPr>
        <p:spPr>
          <a:xfrm>
            <a:off x="2823210" y="2857183"/>
            <a:ext cx="2000250" cy="594360"/>
          </a:xfrm>
          <a:prstGeom prst="roundRect">
            <a:avLst>
              <a:gd name="adj" fmla="val 6000"/>
            </a:avLst>
          </a:prstGeom>
          <a:solidFill>
            <a:srgbClr val="E3FAFC"/>
          </a:solidFill>
          <a:ln w="19050">
            <a:solidFill>
              <a:srgbClr val="0C859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22" name="Label 3022"/>
          <p:cNvSpPr txBox="1"/>
          <p:nvPr/>
        </p:nvSpPr>
        <p:spPr>
          <a:xfrm>
            <a:off x="2896362" y="2857183"/>
            <a:ext cx="1853946" cy="59436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150" b="1" i="0">
                <a:solidFill>
                  <a:srgbClr val="0C8599"/>
                </a:solidFill>
                <a:latin typeface="Calibri"/>
              </a:rPr>
              <a:t>DEVOPS AGENT</a:t>
            </a:r>
          </a:p>
        </p:txBody>
      </p:sp>
      <p:sp>
        <p:nvSpPr>
          <p:cNvPr id="3023" name="Box 3023"/>
          <p:cNvSpPr/>
          <p:nvPr/>
        </p:nvSpPr>
        <p:spPr>
          <a:xfrm>
            <a:off x="5006340" y="2857183"/>
            <a:ext cx="2000250" cy="594360"/>
          </a:xfrm>
          <a:prstGeom prst="roundRect">
            <a:avLst>
              <a:gd name="adj" fmla="val 6000"/>
            </a:avLst>
          </a:prstGeom>
          <a:solidFill>
            <a:srgbClr val="E3FAFC"/>
          </a:solidFill>
          <a:ln w="19050">
            <a:solidFill>
              <a:srgbClr val="0C859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24" name="Label 3024"/>
          <p:cNvSpPr txBox="1"/>
          <p:nvPr/>
        </p:nvSpPr>
        <p:spPr>
          <a:xfrm>
            <a:off x="5079492" y="2857183"/>
            <a:ext cx="1853946" cy="59436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150" b="1" i="0">
                <a:solidFill>
                  <a:srgbClr val="0C8599"/>
                </a:solidFill>
                <a:latin typeface="Calibri"/>
              </a:rPr>
              <a:t>CRM AGENT</a:t>
            </a:r>
          </a:p>
        </p:txBody>
      </p:sp>
      <p:sp>
        <p:nvSpPr>
          <p:cNvPr id="3025" name="Box 3025"/>
          <p:cNvSpPr/>
          <p:nvPr/>
        </p:nvSpPr>
        <p:spPr>
          <a:xfrm>
            <a:off x="7189470" y="2857183"/>
            <a:ext cx="2000250" cy="594360"/>
          </a:xfrm>
          <a:prstGeom prst="roundRect">
            <a:avLst>
              <a:gd name="adj" fmla="val 6000"/>
            </a:avLst>
          </a:prstGeom>
          <a:solidFill>
            <a:srgbClr val="E3FAFC"/>
          </a:solidFill>
          <a:ln w="19050">
            <a:solidFill>
              <a:srgbClr val="0C859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26" name="Label 3026"/>
          <p:cNvSpPr txBox="1"/>
          <p:nvPr/>
        </p:nvSpPr>
        <p:spPr>
          <a:xfrm>
            <a:off x="7262622" y="2857183"/>
            <a:ext cx="1853946" cy="59436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150" b="1" i="0">
                <a:solidFill>
                  <a:srgbClr val="0C8599"/>
                </a:solidFill>
                <a:latin typeface="Calibri"/>
              </a:rPr>
              <a:t>DOCS / RAG AGENT</a:t>
            </a:r>
          </a:p>
        </p:txBody>
      </p:sp>
      <p:sp>
        <p:nvSpPr>
          <p:cNvPr id="3027" name="Outer 3028"/>
          <p:cNvSpPr/>
          <p:nvPr/>
        </p:nvSpPr>
        <p:spPr>
          <a:xfrm>
            <a:off x="411480" y="1823911"/>
            <a:ext cx="9006840" cy="1792224"/>
          </a:xfrm>
          <a:prstGeom prst="rect">
            <a:avLst/>
          </a:prstGeom>
          <a:noFill/>
          <a:ln w="19050">
            <a:solidFill>
              <a:srgbClr val="2B8A3E"/>
            </a:solidFill>
          </a:ln>
        </p:spPr>
        <p:txBody>
          <a:bodyPr rtlCol="0"/>
          <a:lstStyle/>
          <a:p>
            <a:endParaRPr/>
          </a:p>
        </p:txBody>
      </p:sp>
      <p:sp>
        <p:nvSpPr>
          <p:cNvPr id="3029" name="OuterLabel 3030"/>
          <p:cNvSpPr txBox="1"/>
          <p:nvPr/>
        </p:nvSpPr>
        <p:spPr>
          <a:xfrm>
            <a:off x="411480" y="1833055"/>
            <a:ext cx="9006840" cy="27432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300" b="1" i="0" dirty="0">
                <a:solidFill>
                  <a:srgbClr val="2B8A3E"/>
                </a:solidFill>
                <a:latin typeface="Calibri"/>
              </a:rPr>
              <a:t>ORCHESTRATION CONTROL PLANE</a:t>
            </a:r>
            <a:r>
              <a:rPr lang="en-IN" sz="1300" b="1" i="0" dirty="0">
                <a:solidFill>
                  <a:srgbClr val="2B8A3E"/>
                </a:solidFill>
                <a:latin typeface="Calibri"/>
              </a:rPr>
              <a:t> (AGENTFIELD)</a:t>
            </a:r>
            <a:endParaRPr sz="1300" b="1" i="0" dirty="0">
              <a:solidFill>
                <a:srgbClr val="2B8A3E"/>
              </a:solidFill>
              <a:latin typeface="Calibri"/>
            </a:endParaRPr>
          </a:p>
        </p:txBody>
      </p:sp>
      <p:sp>
        <p:nvSpPr>
          <p:cNvPr id="3031" name="Box 3031"/>
          <p:cNvSpPr/>
          <p:nvPr/>
        </p:nvSpPr>
        <p:spPr>
          <a:xfrm>
            <a:off x="411480" y="3844735"/>
            <a:ext cx="9006840" cy="502920"/>
          </a:xfrm>
          <a:prstGeom prst="roundRect">
            <a:avLst>
              <a:gd name="adj" fmla="val 6000"/>
            </a:avLst>
          </a:prstGeom>
          <a:solidFill>
            <a:srgbClr val="F8F0FC"/>
          </a:solidFill>
          <a:ln w="19050">
            <a:solidFill>
              <a:srgbClr val="9C36B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32" name="Label 3032"/>
          <p:cNvSpPr txBox="1"/>
          <p:nvPr/>
        </p:nvSpPr>
        <p:spPr>
          <a:xfrm>
            <a:off x="484632" y="3844735"/>
            <a:ext cx="8860536" cy="50292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300" b="1" i="0">
                <a:solidFill>
                  <a:srgbClr val="9C36B5"/>
                </a:solidFill>
                <a:latin typeface="Calibri"/>
              </a:rPr>
              <a:t>KNOWLEDGE &amp; RETRIEVAL LAYER</a:t>
            </a:r>
          </a:p>
        </p:txBody>
      </p:sp>
      <p:cxnSp>
        <p:nvCxnSpPr>
          <p:cNvPr id="3033" name="Arrow 3034"/>
          <p:cNvCxnSpPr/>
          <p:nvPr/>
        </p:nvCxnSpPr>
        <p:spPr>
          <a:xfrm>
            <a:off x="4914900" y="4347655"/>
            <a:ext cx="0" cy="237744"/>
          </a:xfrm>
          <a:prstGeom prst="line">
            <a:avLst/>
          </a:prstGeom>
          <a:ln w="15875">
            <a:solidFill>
              <a:srgbClr val="4950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5" name="Box 3035"/>
          <p:cNvSpPr/>
          <p:nvPr/>
        </p:nvSpPr>
        <p:spPr>
          <a:xfrm>
            <a:off x="411480" y="4585399"/>
            <a:ext cx="2114550" cy="640080"/>
          </a:xfrm>
          <a:prstGeom prst="roundRect">
            <a:avLst>
              <a:gd name="adj" fmla="val 6000"/>
            </a:avLst>
          </a:prstGeom>
          <a:solidFill>
            <a:srgbClr val="FFF9DB"/>
          </a:solidFill>
          <a:ln w="19050">
            <a:solidFill>
              <a:srgbClr val="E677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36" name="Label 3036"/>
          <p:cNvSpPr txBox="1"/>
          <p:nvPr/>
        </p:nvSpPr>
        <p:spPr>
          <a:xfrm>
            <a:off x="484632" y="4585399"/>
            <a:ext cx="1968246" cy="6400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100" b="1" i="0">
                <a:solidFill>
                  <a:srgbClr val="E67700"/>
                </a:solidFill>
                <a:latin typeface="Calibri"/>
              </a:rPr>
              <a:t>DATABRICKS</a:t>
            </a:r>
          </a:p>
        </p:txBody>
      </p:sp>
      <p:sp>
        <p:nvSpPr>
          <p:cNvPr id="3037" name="Box 3037"/>
          <p:cNvSpPr/>
          <p:nvPr/>
        </p:nvSpPr>
        <p:spPr>
          <a:xfrm>
            <a:off x="2708910" y="4585399"/>
            <a:ext cx="2114550" cy="640080"/>
          </a:xfrm>
          <a:prstGeom prst="roundRect">
            <a:avLst>
              <a:gd name="adj" fmla="val 6000"/>
            </a:avLst>
          </a:prstGeom>
          <a:solidFill>
            <a:srgbClr val="FFF9DB"/>
          </a:solidFill>
          <a:ln w="19050">
            <a:solidFill>
              <a:srgbClr val="E677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38" name="Label 3038"/>
          <p:cNvSpPr txBox="1"/>
          <p:nvPr/>
        </p:nvSpPr>
        <p:spPr>
          <a:xfrm>
            <a:off x="2782062" y="4585399"/>
            <a:ext cx="1968246" cy="6400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100" b="1" i="0">
                <a:solidFill>
                  <a:srgbClr val="E67700"/>
                </a:solidFill>
                <a:latin typeface="Calibri"/>
              </a:rPr>
              <a:t>GITHUB / AZURE DEVOPS</a:t>
            </a:r>
          </a:p>
        </p:txBody>
      </p:sp>
      <p:sp>
        <p:nvSpPr>
          <p:cNvPr id="3039" name="Box 3039"/>
          <p:cNvSpPr/>
          <p:nvPr/>
        </p:nvSpPr>
        <p:spPr>
          <a:xfrm>
            <a:off x="5006340" y="4585399"/>
            <a:ext cx="2114550" cy="640080"/>
          </a:xfrm>
          <a:prstGeom prst="roundRect">
            <a:avLst>
              <a:gd name="adj" fmla="val 6000"/>
            </a:avLst>
          </a:prstGeom>
          <a:solidFill>
            <a:srgbClr val="FFF9DB"/>
          </a:solidFill>
          <a:ln w="19050">
            <a:solidFill>
              <a:srgbClr val="E677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40" name="Label 3040"/>
          <p:cNvSpPr txBox="1"/>
          <p:nvPr/>
        </p:nvSpPr>
        <p:spPr>
          <a:xfrm>
            <a:off x="5079492" y="4585399"/>
            <a:ext cx="1968246" cy="6400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100" b="1" i="0">
                <a:solidFill>
                  <a:srgbClr val="E67700"/>
                </a:solidFill>
                <a:latin typeface="Calibri"/>
              </a:rPr>
              <a:t>CRM (SALESFORCE / DYNAMICS)</a:t>
            </a:r>
          </a:p>
        </p:txBody>
      </p:sp>
      <p:sp>
        <p:nvSpPr>
          <p:cNvPr id="3041" name="Box 3041"/>
          <p:cNvSpPr/>
          <p:nvPr/>
        </p:nvSpPr>
        <p:spPr>
          <a:xfrm>
            <a:off x="7303770" y="4585399"/>
            <a:ext cx="2114550" cy="640080"/>
          </a:xfrm>
          <a:prstGeom prst="roundRect">
            <a:avLst>
              <a:gd name="adj" fmla="val 6000"/>
            </a:avLst>
          </a:prstGeom>
          <a:solidFill>
            <a:srgbClr val="FFF5F5"/>
          </a:solidFill>
          <a:ln w="19050">
            <a:solidFill>
              <a:srgbClr val="C92A2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42" name="Label 3042"/>
          <p:cNvSpPr txBox="1"/>
          <p:nvPr/>
        </p:nvSpPr>
        <p:spPr>
          <a:xfrm>
            <a:off x="7376922" y="4585399"/>
            <a:ext cx="1968246" cy="6400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100" b="1" i="0">
                <a:solidFill>
                  <a:srgbClr val="C92A2A"/>
                </a:solidFill>
                <a:latin typeface="Calibri"/>
              </a:rPr>
              <a:t>MODEL SERVING LAYER</a:t>
            </a:r>
          </a:p>
        </p:txBody>
      </p:sp>
      <p:sp>
        <p:nvSpPr>
          <p:cNvPr id="3043" name="Sidebar 3044"/>
          <p:cNvSpPr/>
          <p:nvPr/>
        </p:nvSpPr>
        <p:spPr>
          <a:xfrm>
            <a:off x="9646920" y="1823911"/>
            <a:ext cx="2148840" cy="3401568"/>
          </a:xfrm>
          <a:prstGeom prst="rect">
            <a:avLst/>
          </a:prstGeom>
          <a:noFill/>
          <a:ln w="19050">
            <a:solidFill>
              <a:srgbClr val="495057"/>
            </a:solidFill>
          </a:ln>
        </p:spPr>
        <p:txBody>
          <a:bodyPr rtlCol="0"/>
          <a:lstStyle/>
          <a:p>
            <a:endParaRPr/>
          </a:p>
        </p:txBody>
      </p:sp>
      <p:sp>
        <p:nvSpPr>
          <p:cNvPr id="3045" name="SidebarLabel 3046"/>
          <p:cNvSpPr txBox="1"/>
          <p:nvPr/>
        </p:nvSpPr>
        <p:spPr>
          <a:xfrm>
            <a:off x="9646920" y="1869631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200" b="1" i="0">
                <a:solidFill>
                  <a:srgbClr val="495057"/>
                </a:solidFill>
                <a:latin typeface="Calibri"/>
              </a:rPr>
              <a:t>CROSS-CUTTING</a:t>
            </a:r>
          </a:p>
        </p:txBody>
      </p:sp>
      <p:sp>
        <p:nvSpPr>
          <p:cNvPr id="3047" name="SideBox 3047"/>
          <p:cNvSpPr/>
          <p:nvPr/>
        </p:nvSpPr>
        <p:spPr>
          <a:xfrm>
            <a:off x="9756648" y="2290255"/>
            <a:ext cx="1929384" cy="63779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71C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48" name="SideLbl 3049"/>
          <p:cNvSpPr txBox="1"/>
          <p:nvPr/>
        </p:nvSpPr>
        <p:spPr>
          <a:xfrm>
            <a:off x="9756648" y="2290255"/>
            <a:ext cx="1929384" cy="63779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 i="0">
                <a:solidFill>
                  <a:srgbClr val="1971C2"/>
                </a:solidFill>
                <a:latin typeface="Calibri"/>
              </a:rPr>
              <a:t>OBSERVABILITY</a:t>
            </a:r>
          </a:p>
        </p:txBody>
      </p:sp>
      <p:sp>
        <p:nvSpPr>
          <p:cNvPr id="3050" name="SideBox 3050"/>
          <p:cNvSpPr/>
          <p:nvPr/>
        </p:nvSpPr>
        <p:spPr>
          <a:xfrm>
            <a:off x="9756648" y="3037777"/>
            <a:ext cx="1929384" cy="63779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92A2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51" name="SideLbl 3052"/>
          <p:cNvSpPr txBox="1"/>
          <p:nvPr/>
        </p:nvSpPr>
        <p:spPr>
          <a:xfrm>
            <a:off x="9756648" y="3037777"/>
            <a:ext cx="1929384" cy="63779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 i="0">
                <a:solidFill>
                  <a:srgbClr val="C92A2A"/>
                </a:solidFill>
                <a:latin typeface="Calibri"/>
              </a:rPr>
              <a:t>SECURITY</a:t>
            </a:r>
          </a:p>
        </p:txBody>
      </p:sp>
      <p:sp>
        <p:nvSpPr>
          <p:cNvPr id="3053" name="SideBox 3053"/>
          <p:cNvSpPr/>
          <p:nvPr/>
        </p:nvSpPr>
        <p:spPr>
          <a:xfrm>
            <a:off x="9756648" y="3785299"/>
            <a:ext cx="1929384" cy="63779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B8A3E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54" name="SideLbl 3055"/>
          <p:cNvSpPr txBox="1"/>
          <p:nvPr/>
        </p:nvSpPr>
        <p:spPr>
          <a:xfrm>
            <a:off x="9756648" y="3785299"/>
            <a:ext cx="1929384" cy="63779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 i="0">
                <a:solidFill>
                  <a:srgbClr val="2B8A3E"/>
                </a:solidFill>
                <a:latin typeface="Calibri"/>
              </a:rPr>
              <a:t>CONTINUOUS QA</a:t>
            </a:r>
          </a:p>
        </p:txBody>
      </p:sp>
      <p:sp>
        <p:nvSpPr>
          <p:cNvPr id="3056" name="SideBox 3056"/>
          <p:cNvSpPr/>
          <p:nvPr/>
        </p:nvSpPr>
        <p:spPr>
          <a:xfrm>
            <a:off x="9756648" y="4532821"/>
            <a:ext cx="1929384" cy="63779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677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57" name="SideLbl 3058"/>
          <p:cNvSpPr txBox="1"/>
          <p:nvPr/>
        </p:nvSpPr>
        <p:spPr>
          <a:xfrm>
            <a:off x="9756648" y="4532821"/>
            <a:ext cx="1929384" cy="63779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 i="0">
                <a:solidFill>
                  <a:srgbClr val="E67700"/>
                </a:solidFill>
                <a:latin typeface="Calibri"/>
              </a:rPr>
              <a:t>COST GOVERNANCE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B2A3984-56C2-C788-3D28-13F1580F28DC}"/>
              </a:ext>
            </a:extLst>
          </p:cNvPr>
          <p:cNvCxnSpPr>
            <a:stCxn id="3027" idx="2"/>
            <a:endCxn id="3032" idx="0"/>
          </p:cNvCxnSpPr>
          <p:nvPr/>
        </p:nvCxnSpPr>
        <p:spPr>
          <a:xfrm>
            <a:off x="4914900" y="3616135"/>
            <a:ext cx="0" cy="228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8405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E3FC1-2107-892F-FAE9-D9CA97F64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321D49A5-25B9-2506-98B9-2024B79533F0}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640418-4388-AD2B-2ED9-220F6B606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z="1000" smtClean="0"/>
              <a:t>5</a:t>
            </a:fld>
            <a:endParaRPr lang="en-IN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A31EBF-DAF5-4757-1C0C-938FD0FC0A56}"/>
              </a:ext>
            </a:extLst>
          </p:cNvPr>
          <p:cNvSpPr txBox="1"/>
          <p:nvPr/>
        </p:nvSpPr>
        <p:spPr>
          <a:xfrm>
            <a:off x="475900" y="302190"/>
            <a:ext cx="932688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>
                <a:solidFill>
                  <a:srgbClr val="1F8E91"/>
                </a:solidFill>
                <a:ea typeface="Calibri"/>
                <a:cs typeface="Calibri"/>
              </a:rPr>
              <a:t>Solution Quality</a:t>
            </a:r>
          </a:p>
        </p:txBody>
      </p:sp>
      <p:sp>
        <p:nvSpPr>
          <p:cNvPr id="1033" name="Rounded Rectangle 1032"/>
          <p:cNvSpPr/>
          <p:nvPr/>
        </p:nvSpPr>
        <p:spPr>
          <a:xfrm>
            <a:off x="585215" y="1325880"/>
            <a:ext cx="2514600" cy="155448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4" name="TextBox 1033"/>
          <p:cNvSpPr txBox="1"/>
          <p:nvPr/>
        </p:nvSpPr>
        <p:spPr>
          <a:xfrm>
            <a:off x="722375" y="1325880"/>
            <a:ext cx="2240280" cy="1554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263030"/>
                </a:solidFill>
                <a:latin typeface="Calibri"/>
              </a:rPr>
              <a:t>Natural-Language</a:t>
            </a:r>
          </a:p>
          <a:p>
            <a:pPr algn="ctr"/>
            <a:r>
              <a:rPr sz="1400" b="1" i="0">
                <a:solidFill>
                  <a:srgbClr val="263030"/>
                </a:solidFill>
                <a:latin typeface="Calibri"/>
              </a:rPr>
              <a:t>Query</a:t>
            </a:r>
          </a:p>
        </p:txBody>
      </p:sp>
      <p:cxnSp>
        <p:nvCxnSpPr>
          <p:cNvPr id="1035" name="Connector 1034"/>
          <p:cNvCxnSpPr/>
          <p:nvPr/>
        </p:nvCxnSpPr>
        <p:spPr>
          <a:xfrm>
            <a:off x="3099815" y="2103120"/>
            <a:ext cx="320041" cy="0"/>
          </a:xfrm>
          <a:prstGeom prst="line">
            <a:avLst/>
          </a:prstGeom>
          <a:ln w="31750">
            <a:solidFill>
              <a:srgbClr val="2DB6B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6" name="Rounded Rectangle 1035"/>
          <p:cNvSpPr/>
          <p:nvPr/>
        </p:nvSpPr>
        <p:spPr>
          <a:xfrm>
            <a:off x="3419856" y="1325880"/>
            <a:ext cx="2514600" cy="1554480"/>
          </a:xfrm>
          <a:prstGeom prst="roundRect">
            <a:avLst>
              <a:gd name="adj" fmla="val 6000"/>
            </a:avLst>
          </a:prstGeom>
          <a:solidFill>
            <a:srgbClr val="1F8E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7" name="TextBox 1036"/>
          <p:cNvSpPr txBox="1"/>
          <p:nvPr/>
        </p:nvSpPr>
        <p:spPr>
          <a:xfrm>
            <a:off x="3557015" y="1325880"/>
            <a:ext cx="2240280" cy="1554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Coordinator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(LLM Routing)</a:t>
            </a:r>
          </a:p>
        </p:txBody>
      </p:sp>
      <p:cxnSp>
        <p:nvCxnSpPr>
          <p:cNvPr id="1038" name="Connector 1037"/>
          <p:cNvCxnSpPr/>
          <p:nvPr/>
        </p:nvCxnSpPr>
        <p:spPr>
          <a:xfrm>
            <a:off x="5934456" y="2103120"/>
            <a:ext cx="320040" cy="0"/>
          </a:xfrm>
          <a:prstGeom prst="line">
            <a:avLst/>
          </a:prstGeom>
          <a:ln w="31750">
            <a:solidFill>
              <a:srgbClr val="2DB6B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9" name="Rounded Rectangle 1038"/>
          <p:cNvSpPr/>
          <p:nvPr/>
        </p:nvSpPr>
        <p:spPr>
          <a:xfrm>
            <a:off x="6254496" y="1325880"/>
            <a:ext cx="2514600" cy="155448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0" name="TextBox 1039"/>
          <p:cNvSpPr txBox="1"/>
          <p:nvPr/>
        </p:nvSpPr>
        <p:spPr>
          <a:xfrm>
            <a:off x="6391656" y="1325880"/>
            <a:ext cx="2240280" cy="1554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263030"/>
                </a:solidFill>
                <a:latin typeface="Calibri"/>
              </a:rPr>
              <a:t>Specialist</a:t>
            </a:r>
          </a:p>
          <a:p>
            <a:pPr algn="ctr"/>
            <a:r>
              <a:rPr sz="1400" b="1" i="0">
                <a:solidFill>
                  <a:srgbClr val="263030"/>
                </a:solidFill>
                <a:latin typeface="Calibri"/>
              </a:rPr>
              <a:t>Agent</a:t>
            </a:r>
          </a:p>
        </p:txBody>
      </p:sp>
      <p:cxnSp>
        <p:nvCxnSpPr>
          <p:cNvPr id="1041" name="Connector 1040"/>
          <p:cNvCxnSpPr/>
          <p:nvPr/>
        </p:nvCxnSpPr>
        <p:spPr>
          <a:xfrm>
            <a:off x="8769096" y="2103120"/>
            <a:ext cx="320040" cy="0"/>
          </a:xfrm>
          <a:prstGeom prst="line">
            <a:avLst/>
          </a:prstGeom>
          <a:ln w="31750">
            <a:solidFill>
              <a:srgbClr val="2DB6B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2" name="Rounded Rectangle 1041"/>
          <p:cNvSpPr/>
          <p:nvPr/>
        </p:nvSpPr>
        <p:spPr>
          <a:xfrm>
            <a:off x="9089136" y="1325880"/>
            <a:ext cx="2514600" cy="155448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3" name="TextBox 1042"/>
          <p:cNvSpPr txBox="1"/>
          <p:nvPr/>
        </p:nvSpPr>
        <p:spPr>
          <a:xfrm>
            <a:off x="9226296" y="1325880"/>
            <a:ext cx="2240280" cy="1554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263030"/>
                </a:solidFill>
                <a:latin typeface="Calibri"/>
              </a:rPr>
              <a:t>Cited</a:t>
            </a:r>
          </a:p>
          <a:p>
            <a:pPr algn="ctr"/>
            <a:r>
              <a:rPr sz="1400" b="1" i="0">
                <a:solidFill>
                  <a:srgbClr val="263030"/>
                </a:solidFill>
                <a:latin typeface="Calibri"/>
              </a:rPr>
              <a:t>Response</a:t>
            </a:r>
          </a:p>
        </p:txBody>
      </p:sp>
      <p:sp>
        <p:nvSpPr>
          <p:cNvPr id="6001" name="TextBox 6001"/>
          <p:cNvSpPr txBox="1"/>
          <p:nvPr/>
        </p:nvSpPr>
        <p:spPr>
          <a:xfrm>
            <a:off x="475488" y="80467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sz="1300" b="0" i="1">
                <a:solidFill>
                  <a:srgbClr val="5B6B6B"/>
                </a:solidFill>
                <a:latin typeface="Calibri"/>
              </a:rPr>
              <a:t>Solution Quality · AI Integration Depth</a:t>
            </a:r>
          </a:p>
        </p:txBody>
      </p:sp>
      <p:sp>
        <p:nvSpPr>
          <p:cNvPr id="6010" name="TextBox 6010"/>
          <p:cNvSpPr txBox="1"/>
          <p:nvPr/>
        </p:nvSpPr>
        <p:spPr>
          <a:xfrm>
            <a:off x="585216" y="2971800"/>
            <a:ext cx="2514600" cy="5943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5B6B6B"/>
                </a:solidFill>
                <a:latin typeface="Calibri"/>
              </a:rPr>
              <a:t>Ask in plain English — no syntax, no picking a system.</a:t>
            </a:r>
          </a:p>
        </p:txBody>
      </p:sp>
      <p:sp>
        <p:nvSpPr>
          <p:cNvPr id="6011" name="TextBox 6011"/>
          <p:cNvSpPr txBox="1"/>
          <p:nvPr/>
        </p:nvSpPr>
        <p:spPr>
          <a:xfrm>
            <a:off x="3419856" y="2971800"/>
            <a:ext cx="2514600" cy="5943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5B6B6B"/>
                </a:solidFill>
                <a:latin typeface="Calibri"/>
              </a:rPr>
              <a:t>AI reads intent and picks who should answer, not keywords.</a:t>
            </a:r>
          </a:p>
        </p:txBody>
      </p:sp>
      <p:sp>
        <p:nvSpPr>
          <p:cNvPr id="6012" name="TextBox 6012"/>
          <p:cNvSpPr txBox="1"/>
          <p:nvPr/>
        </p:nvSpPr>
        <p:spPr>
          <a:xfrm>
            <a:off x="6254496" y="2971800"/>
            <a:ext cx="2514600" cy="5943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5B6B6B"/>
                </a:solidFill>
                <a:latin typeface="Calibri"/>
              </a:rPr>
              <a:t>A dedicated expert checks the real, live system data.</a:t>
            </a:r>
          </a:p>
        </p:txBody>
      </p:sp>
      <p:sp>
        <p:nvSpPr>
          <p:cNvPr id="6013" name="TextBox 6013"/>
          <p:cNvSpPr txBox="1"/>
          <p:nvPr/>
        </p:nvSpPr>
        <p:spPr>
          <a:xfrm>
            <a:off x="9089136" y="2971800"/>
            <a:ext cx="2514600" cy="5943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5B6B6B"/>
                </a:solidFill>
                <a:latin typeface="Calibri"/>
              </a:rPr>
              <a:t>Answer comes back in plain language, receipt attached.</a:t>
            </a:r>
          </a:p>
        </p:txBody>
      </p:sp>
      <p:sp>
        <p:nvSpPr>
          <p:cNvPr id="6020" name="TextBox 6020"/>
          <p:cNvSpPr txBox="1"/>
          <p:nvPr/>
        </p:nvSpPr>
        <p:spPr>
          <a:xfrm>
            <a:off x="548640" y="3703320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20000"/>
              </a:lnSpc>
            </a:pPr>
            <a:r>
              <a:rPr sz="1400" b="0" i="0">
                <a:solidFill>
                  <a:srgbClr val="263030"/>
                </a:solidFill>
                <a:latin typeface="Calibri"/>
              </a:rPr>
              <a:t>For example: ask “did the sales ETL job run last night?” and in under two minutes the coordinator recognizes a data-platform question, the data agent checks the real Databricks job run, and the answer names job #4821, run #99102 — not a guess.</a:t>
            </a:r>
          </a:p>
        </p:txBody>
      </p:sp>
      <p:sp>
        <p:nvSpPr>
          <p:cNvPr id="6030" name="Rounded Rectangle 6030"/>
          <p:cNvSpPr/>
          <p:nvPr/>
        </p:nvSpPr>
        <p:spPr>
          <a:xfrm>
            <a:off x="548640" y="4572000"/>
            <a:ext cx="2567178" cy="91440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40" name="TextBox 6040"/>
          <p:cNvSpPr txBox="1"/>
          <p:nvPr/>
        </p:nvSpPr>
        <p:spPr>
          <a:xfrm>
            <a:off x="640080" y="4572000"/>
            <a:ext cx="2384298" cy="914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63030"/>
                </a:solidFill>
                <a:latin typeface="Calibri"/>
              </a:rPr>
              <a:t>Data &amp; Pipelines</a:t>
            </a:r>
          </a:p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5B6B6B"/>
                </a:solidFill>
                <a:latin typeface="Calibri"/>
              </a:rPr>
              <a:t>Databricks job runs and SQL warehouses</a:t>
            </a:r>
          </a:p>
        </p:txBody>
      </p:sp>
      <p:sp>
        <p:nvSpPr>
          <p:cNvPr id="6031" name="Rounded Rectangle 6031"/>
          <p:cNvSpPr/>
          <p:nvPr/>
        </p:nvSpPr>
        <p:spPr>
          <a:xfrm>
            <a:off x="3390138" y="4572000"/>
            <a:ext cx="2567178" cy="91440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41" name="TextBox 6041"/>
          <p:cNvSpPr txBox="1"/>
          <p:nvPr/>
        </p:nvSpPr>
        <p:spPr>
          <a:xfrm>
            <a:off x="3481578" y="4572000"/>
            <a:ext cx="2384298" cy="914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63030"/>
                </a:solidFill>
                <a:latin typeface="Calibri"/>
              </a:rPr>
              <a:t>Deployments &amp; CI/CD</a:t>
            </a:r>
          </a:p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5B6B6B"/>
                </a:solidFill>
                <a:latin typeface="Calibri"/>
              </a:rPr>
              <a:t>GitHub Actions and Azure DevOps runs</a:t>
            </a:r>
          </a:p>
        </p:txBody>
      </p:sp>
      <p:sp>
        <p:nvSpPr>
          <p:cNvPr id="6032" name="Rounded Rectangle 6032"/>
          <p:cNvSpPr/>
          <p:nvPr/>
        </p:nvSpPr>
        <p:spPr>
          <a:xfrm>
            <a:off x="6231636" y="4572000"/>
            <a:ext cx="2567178" cy="91440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42" name="TextBox 6042"/>
          <p:cNvSpPr txBox="1"/>
          <p:nvPr/>
        </p:nvSpPr>
        <p:spPr>
          <a:xfrm>
            <a:off x="6323076" y="4572000"/>
            <a:ext cx="2384298" cy="914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63030"/>
                </a:solidFill>
                <a:latin typeface="Calibri"/>
              </a:rPr>
              <a:t>Customers &amp; Deals</a:t>
            </a:r>
          </a:p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5B6B6B"/>
                </a:solidFill>
                <a:latin typeface="Calibri"/>
              </a:rPr>
              <a:t>CRM accounts, deals, and owners</a:t>
            </a:r>
          </a:p>
        </p:txBody>
      </p:sp>
      <p:sp>
        <p:nvSpPr>
          <p:cNvPr id="6033" name="Rounded Rectangle 6033"/>
          <p:cNvSpPr/>
          <p:nvPr/>
        </p:nvSpPr>
        <p:spPr>
          <a:xfrm>
            <a:off x="9073134" y="4572000"/>
            <a:ext cx="2567178" cy="91440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43" name="TextBox 6043"/>
          <p:cNvSpPr txBox="1"/>
          <p:nvPr/>
        </p:nvSpPr>
        <p:spPr>
          <a:xfrm>
            <a:off x="9164574" y="4572000"/>
            <a:ext cx="2384298" cy="914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63030"/>
                </a:solidFill>
                <a:latin typeface="Calibri"/>
              </a:rPr>
              <a:t>Documentation &amp; Runbooks</a:t>
            </a:r>
          </a:p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5B6B6B"/>
                </a:solidFill>
                <a:latin typeface="Calibri"/>
              </a:rPr>
              <a:t>Internal docs and runbooks</a:t>
            </a:r>
          </a:p>
        </p:txBody>
      </p:sp>
    </p:spTree>
    <p:extLst>
      <p:ext uri="{BB962C8B-B14F-4D97-AF65-F5344CB8AC3E}">
        <p14:creationId xmlns:p14="http://schemas.microsoft.com/office/powerpoint/2010/main" val="23054563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E3FC1-2107-892F-FAE9-D9CA97F64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321D49A5-25B9-2506-98B9-2024B79533F0}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640418-4388-AD2B-2ED9-220F6B606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z="1000" smtClean="0"/>
              <a:t>6</a:t>
            </a:fld>
            <a:endParaRPr lang="en-IN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A31EBF-DAF5-4757-1C0C-938FD0FC0A56}"/>
              </a:ext>
            </a:extLst>
          </p:cNvPr>
          <p:cNvSpPr txBox="1"/>
          <p:nvPr/>
        </p:nvSpPr>
        <p:spPr>
          <a:xfrm>
            <a:off x="475900" y="302190"/>
            <a:ext cx="932688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>
                <a:solidFill>
                  <a:srgbClr val="1F8E91"/>
                </a:solidFill>
                <a:ea typeface="Calibri"/>
                <a:cs typeface="Calibri"/>
              </a:rPr>
              <a:t>QA Strategy</a:t>
            </a:r>
          </a:p>
        </p:txBody>
      </p:sp>
      <p:sp>
        <p:nvSpPr>
          <p:cNvPr id="1033" name="Rounded Rectangle 1032"/>
          <p:cNvSpPr/>
          <p:nvPr/>
        </p:nvSpPr>
        <p:spPr>
          <a:xfrm>
            <a:off x="539495" y="1417320"/>
            <a:ext cx="3520440" cy="320040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4" name="Oval 1033"/>
          <p:cNvSpPr/>
          <p:nvPr/>
        </p:nvSpPr>
        <p:spPr>
          <a:xfrm>
            <a:off x="1979675" y="1691640"/>
            <a:ext cx="640080" cy="640080"/>
          </a:xfrm>
          <a:prstGeom prst="ellipse">
            <a:avLst/>
          </a:prstGeom>
          <a:solidFill>
            <a:srgbClr val="1F8E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722375" y="2514600"/>
            <a:ext cx="3154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1F8E91"/>
                </a:solidFill>
                <a:latin typeface="Calibri"/>
              </a:rPr>
              <a:t>Routing Accuracy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768095" y="3246120"/>
            <a:ext cx="30632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>
                <a:solidFill>
                  <a:srgbClr val="5B6B6B"/>
                </a:solidFill>
                <a:latin typeface="Calibri"/>
              </a:rPr>
              <a:t>Every query graded against</a:t>
            </a:r>
          </a:p>
          <a:p>
            <a:pPr algn="ctr"/>
            <a:r>
              <a:rPr sz="1300" b="0" i="0">
                <a:solidFill>
                  <a:srgbClr val="5B6B6B"/>
                </a:solidFill>
                <a:latin typeface="Calibri"/>
              </a:rPr>
              <a:t>expected domain(s)</a:t>
            </a:r>
          </a:p>
        </p:txBody>
      </p:sp>
      <p:sp>
        <p:nvSpPr>
          <p:cNvPr id="1037" name="Rounded Rectangle 1036"/>
          <p:cNvSpPr/>
          <p:nvPr/>
        </p:nvSpPr>
        <p:spPr>
          <a:xfrm>
            <a:off x="4334256" y="1417320"/>
            <a:ext cx="3520440" cy="320040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8" name="Oval 1037"/>
          <p:cNvSpPr/>
          <p:nvPr/>
        </p:nvSpPr>
        <p:spPr>
          <a:xfrm>
            <a:off x="5774436" y="1691640"/>
            <a:ext cx="640080" cy="640080"/>
          </a:xfrm>
          <a:prstGeom prst="ellipse">
            <a:avLst/>
          </a:prstGeom>
          <a:solidFill>
            <a:srgbClr val="1F8E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4517136" y="2514600"/>
            <a:ext cx="3154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1F8E91"/>
                </a:solidFill>
                <a:latin typeface="Calibri"/>
              </a:rPr>
              <a:t>Grounding &amp;</a:t>
            </a:r>
          </a:p>
          <a:p>
            <a:pPr algn="ctr"/>
            <a:r>
              <a:rPr sz="1600" b="1" i="0">
                <a:solidFill>
                  <a:srgbClr val="1F8E91"/>
                </a:solidFill>
                <a:latin typeface="Calibri"/>
              </a:rPr>
              <a:t>Citations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4562856" y="3246120"/>
            <a:ext cx="30632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>
                <a:solidFill>
                  <a:srgbClr val="5B6B6B"/>
                </a:solidFill>
                <a:latin typeface="Calibri"/>
              </a:rPr>
              <a:t>Citation checked against</a:t>
            </a:r>
          </a:p>
          <a:p>
            <a:pPr algn="ctr"/>
            <a:r>
              <a:rPr sz="1300" b="0" i="0">
                <a:solidFill>
                  <a:srgbClr val="5B6B6B"/>
                </a:solidFill>
                <a:latin typeface="Calibri"/>
              </a:rPr>
              <a:t>the record, not just present</a:t>
            </a:r>
          </a:p>
        </p:txBody>
      </p:sp>
      <p:sp>
        <p:nvSpPr>
          <p:cNvPr id="1041" name="Rounded Rectangle 1040"/>
          <p:cNvSpPr/>
          <p:nvPr/>
        </p:nvSpPr>
        <p:spPr>
          <a:xfrm>
            <a:off x="8129016" y="1417320"/>
            <a:ext cx="3520440" cy="320040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2" name="Oval 1041"/>
          <p:cNvSpPr/>
          <p:nvPr/>
        </p:nvSpPr>
        <p:spPr>
          <a:xfrm>
            <a:off x="9569196" y="1691640"/>
            <a:ext cx="640080" cy="640080"/>
          </a:xfrm>
          <a:prstGeom prst="ellipse">
            <a:avLst/>
          </a:prstGeom>
          <a:solidFill>
            <a:srgbClr val="1F8E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8311896" y="2514600"/>
            <a:ext cx="3154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1F8E91"/>
                </a:solidFill>
                <a:latin typeface="Calibri"/>
              </a:rPr>
              <a:t>Hallucination Rate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8357616" y="3246120"/>
            <a:ext cx="30632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>
                <a:solidFill>
                  <a:srgbClr val="5B6B6B"/>
                </a:solidFill>
                <a:latin typeface="Calibri"/>
              </a:rPr>
              <a:t>Two-half Judge Agent —</a:t>
            </a:r>
          </a:p>
          <a:p>
            <a:pPr algn="ctr"/>
            <a:r>
              <a:rPr sz="1300" b="0" i="0">
                <a:solidFill>
                  <a:srgbClr val="5B6B6B"/>
                </a:solidFill>
                <a:latin typeface="Calibri"/>
              </a:rPr>
              <a:t>LLM + deterministic check</a:t>
            </a:r>
          </a:p>
        </p:txBody>
      </p:sp>
      <p:sp>
        <p:nvSpPr>
          <p:cNvPr id="5001" name="TextBox 5001"/>
          <p:cNvSpPr txBox="1"/>
          <p:nvPr/>
        </p:nvSpPr>
        <p:spPr>
          <a:xfrm>
            <a:off x="539496" y="786384"/>
            <a:ext cx="11109960" cy="5943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B6B6B"/>
                </a:solidFill>
                <a:latin typeface="Calibri"/>
              </a:rPr>
              <a:t>Every answer is graded twice — once on whether it reached the right specialist, once on whether each sentence is actually backed by a citation.</a:t>
            </a:r>
          </a:p>
        </p:txBody>
      </p:sp>
      <p:sp>
        <p:nvSpPr>
          <p:cNvPr id="5002" name="Rounded Rectangle 5002"/>
          <p:cNvSpPr/>
          <p:nvPr/>
        </p:nvSpPr>
        <p:spPr>
          <a:xfrm>
            <a:off x="539496" y="5074920"/>
            <a:ext cx="11109960" cy="82296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03" name="TextBox 5003"/>
          <p:cNvSpPr txBox="1"/>
          <p:nvPr/>
        </p:nvSpPr>
        <p:spPr>
          <a:xfrm>
            <a:off x="813816" y="5074920"/>
            <a:ext cx="10561320" cy="82296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F8E91"/>
                </a:solidFill>
                <a:latin typeface="Calibri"/>
              </a:rPr>
              <a:t>Measured on the live control plane, 12 of 12 graded queries: 100% routing accuracy · 5.56% hallucination rate (target &lt;10%) · 93.11% test coverage (target ≥80%) — every target met, not just attempted.</a:t>
            </a:r>
          </a:p>
        </p:txBody>
      </p:sp>
    </p:spTree>
    <p:extLst>
      <p:ext uri="{BB962C8B-B14F-4D97-AF65-F5344CB8AC3E}">
        <p14:creationId xmlns:p14="http://schemas.microsoft.com/office/powerpoint/2010/main" val="23054563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E3FC1-2107-892F-FAE9-D9CA97F64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321D49A5-25B9-2506-98B9-2024B79533F0}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640418-4388-AD2B-2ED9-220F6B606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z="1000" smtClean="0"/>
              <a:t>7</a:t>
            </a:fld>
            <a:endParaRPr lang="en-IN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A31EBF-DAF5-4757-1C0C-938FD0FC0A56}"/>
              </a:ext>
            </a:extLst>
          </p:cNvPr>
          <p:cNvSpPr txBox="1"/>
          <p:nvPr/>
        </p:nvSpPr>
        <p:spPr>
          <a:xfrm>
            <a:off x="475900" y="302190"/>
            <a:ext cx="932688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>
                <a:solidFill>
                  <a:srgbClr val="1F8E91"/>
                </a:solidFill>
                <a:ea typeface="Calibri"/>
                <a:cs typeface="Calibri"/>
              </a:rPr>
              <a:t>Budget &amp; Cost Justification</a:t>
            </a:r>
          </a:p>
        </p:txBody>
      </p:sp>
      <p:sp>
        <p:nvSpPr>
          <p:cNvPr id="1033" name="TextBox 1032"/>
          <p:cNvSpPr txBox="1"/>
          <p:nvPr/>
        </p:nvSpPr>
        <p:spPr>
          <a:xfrm>
            <a:off x="822960" y="1737360"/>
            <a:ext cx="64008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200" b="1" i="0">
                <a:solidFill>
                  <a:srgbClr val="1F8E91"/>
                </a:solidFill>
                <a:latin typeface="Calibri"/>
              </a:rPr>
              <a:t>₹0</a:t>
            </a:r>
          </a:p>
        </p:txBody>
      </p:sp>
      <p:sp>
        <p:nvSpPr>
          <p:cNvPr id="1034" name="TextBox 1033"/>
          <p:cNvSpPr txBox="1"/>
          <p:nvPr/>
        </p:nvSpPr>
        <p:spPr>
          <a:xfrm>
            <a:off x="868680" y="3063240"/>
            <a:ext cx="6400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B6B6B"/>
                </a:solidFill>
                <a:latin typeface="Calibri"/>
              </a:rPr>
              <a:t>actual spend, of a ₹2,500 fixed ceiling</a:t>
            </a:r>
          </a:p>
        </p:txBody>
      </p:sp>
      <p:sp>
        <p:nvSpPr>
          <p:cNvPr id="1035" name="Rounded Rectangle 1034"/>
          <p:cNvSpPr/>
          <p:nvPr/>
        </p:nvSpPr>
        <p:spPr>
          <a:xfrm>
            <a:off x="822960" y="3794760"/>
            <a:ext cx="6766560" cy="45720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6" name="TextBox 1035"/>
          <p:cNvSpPr txBox="1"/>
          <p:nvPr/>
        </p:nvSpPr>
        <p:spPr>
          <a:xfrm>
            <a:off x="822960" y="3794760"/>
            <a:ext cx="6766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F8E91"/>
                </a:solidFill>
                <a:latin typeface="Calibri"/>
              </a:rPr>
              <a:t>100% of ceiling remains as buffer</a:t>
            </a:r>
          </a:p>
        </p:txBody>
      </p:sp>
      <p:sp>
        <p:nvSpPr>
          <p:cNvPr id="1037" name="Oval 1036"/>
          <p:cNvSpPr/>
          <p:nvPr/>
        </p:nvSpPr>
        <p:spPr>
          <a:xfrm>
            <a:off x="822960" y="4709159"/>
            <a:ext cx="109728" cy="109728"/>
          </a:xfrm>
          <a:prstGeom prst="ellipse">
            <a:avLst/>
          </a:prstGeom>
          <a:solidFill>
            <a:srgbClr val="2DB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8" name="TextBox 1037"/>
          <p:cNvSpPr txBox="1"/>
          <p:nvPr/>
        </p:nvSpPr>
        <p:spPr>
          <a:xfrm>
            <a:off x="1097280" y="4663440"/>
            <a:ext cx="6400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263030"/>
                </a:solidFill>
                <a:latin typeface="Calibri"/>
              </a:rPr>
              <a:t>AgentField, Ollama, Pytest, GitHub Actions — every tool open-source or free-tier</a:t>
            </a:r>
          </a:p>
        </p:txBody>
      </p:sp>
      <p:sp>
        <p:nvSpPr>
          <p:cNvPr id="1039" name="Oval 1038"/>
          <p:cNvSpPr/>
          <p:nvPr/>
        </p:nvSpPr>
        <p:spPr>
          <a:xfrm>
            <a:off x="822960" y="5303520"/>
            <a:ext cx="109728" cy="109728"/>
          </a:xfrm>
          <a:prstGeom prst="ellipse">
            <a:avLst/>
          </a:prstGeom>
          <a:solidFill>
            <a:srgbClr val="2DB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0" name="TextBox 1039"/>
          <p:cNvSpPr txBox="1"/>
          <p:nvPr/>
        </p:nvSpPr>
        <p:spPr>
          <a:xfrm>
            <a:off x="1097280" y="5257800"/>
            <a:ext cx="6400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263030"/>
                </a:solidFill>
                <a:latin typeface="Calibri"/>
              </a:rPr>
              <a:t>Paid inference (OpenRouter) was a one-line config option — never required</a:t>
            </a:r>
          </a:p>
        </p:txBody>
      </p:sp>
      <p:sp>
        <p:nvSpPr>
          <p:cNvPr id="1041" name="Rounded Rectangle 1040"/>
          <p:cNvSpPr/>
          <p:nvPr/>
        </p:nvSpPr>
        <p:spPr>
          <a:xfrm>
            <a:off x="7955279" y="1737360"/>
            <a:ext cx="3566160" cy="3657600"/>
          </a:xfrm>
          <a:prstGeom prst="roundRect">
            <a:avLst>
              <a:gd name="adj" fmla="val 6000"/>
            </a:avLst>
          </a:prstGeom>
          <a:solidFill>
            <a:srgbClr val="1F8E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2" name="TextBox 1041"/>
          <p:cNvSpPr txBox="1"/>
          <p:nvPr/>
        </p:nvSpPr>
        <p:spPr>
          <a:xfrm>
            <a:off x="8229600" y="196596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Why ₹0 works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8229600" y="2514600"/>
            <a:ext cx="301752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</a:rPr>
              <a:t>Local Ollama meets every graded QA target. A hosted model remains a single environment-variable swap — available, never required for this build.</a:t>
            </a:r>
          </a:p>
        </p:txBody>
      </p:sp>
      <p:sp>
        <p:nvSpPr>
          <p:cNvPr id="5001" name="TextBox 5001"/>
          <p:cNvSpPr txBox="1"/>
          <p:nvPr/>
        </p:nvSpPr>
        <p:spPr>
          <a:xfrm>
            <a:off x="475488" y="868680"/>
            <a:ext cx="11128248" cy="8229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5B6B6B"/>
                </a:solidFill>
                <a:latin typeface="Calibri"/>
              </a:rPr>
              <a:t>Every piece of this system — AgentField, Ollama, Pytest, GitHub Actions — is open-source or free-tier, so the architecture does not get smaller if the budget does.</a:t>
            </a:r>
          </a:p>
        </p:txBody>
      </p:sp>
    </p:spTree>
    <p:extLst>
      <p:ext uri="{BB962C8B-B14F-4D97-AF65-F5344CB8AC3E}">
        <p14:creationId xmlns:p14="http://schemas.microsoft.com/office/powerpoint/2010/main" val="23054563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E3FC1-2107-892F-FAE9-D9CA97F64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321D49A5-25B9-2506-98B9-2024B79533F0}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640418-4388-AD2B-2ED9-220F6B606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z="1000" smtClean="0"/>
              <a:t>8</a:t>
            </a:fld>
            <a:endParaRPr lang="en-IN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A31EBF-DAF5-4757-1C0C-938FD0FC0A56}"/>
              </a:ext>
            </a:extLst>
          </p:cNvPr>
          <p:cNvSpPr txBox="1"/>
          <p:nvPr/>
        </p:nvSpPr>
        <p:spPr>
          <a:xfrm>
            <a:off x="475900" y="302190"/>
            <a:ext cx="11308812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>
                <a:solidFill>
                  <a:srgbClr val="1F8E91"/>
                </a:solidFill>
                <a:ea typeface="Calibri"/>
                <a:cs typeface="Calibri"/>
              </a:rPr>
              <a:t>Scope Decisions — What Changed, and Why</a:t>
            </a:r>
          </a:p>
        </p:txBody>
      </p:sp>
      <p:sp>
        <p:nvSpPr>
          <p:cNvPr id="1032" name="TextBox 1031"/>
          <p:cNvSpPr txBox="1"/>
          <p:nvPr/>
        </p:nvSpPr>
        <p:spPr>
          <a:xfrm>
            <a:off x="1188720" y="132588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5B6B6B"/>
                </a:solidFill>
                <a:latin typeface="Calibri"/>
              </a:rPr>
              <a:t>Approved</a:t>
            </a:r>
          </a:p>
        </p:txBody>
      </p:sp>
      <p:sp>
        <p:nvSpPr>
          <p:cNvPr id="1033" name="TextBox 1032"/>
          <p:cNvSpPr txBox="1"/>
          <p:nvPr/>
        </p:nvSpPr>
        <p:spPr>
          <a:xfrm>
            <a:off x="6858000" y="132588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1F8E91"/>
                </a:solidFill>
                <a:latin typeface="Calibri"/>
              </a:rPr>
              <a:t>Actual — by decision</a:t>
            </a:r>
          </a:p>
        </p:txBody>
      </p:sp>
      <p:sp>
        <p:nvSpPr>
          <p:cNvPr id="1034" name="Rounded Rectangle 1033"/>
          <p:cNvSpPr/>
          <p:nvPr/>
        </p:nvSpPr>
        <p:spPr>
          <a:xfrm>
            <a:off x="1188720" y="1874519"/>
            <a:ext cx="4114800" cy="137160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 w="12700">
            <a:solidFill>
              <a:srgbClr val="5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5" name="TextBox 1034"/>
          <p:cNvSpPr txBox="1"/>
          <p:nvPr/>
        </p:nvSpPr>
        <p:spPr>
          <a:xfrm>
            <a:off x="1371600" y="1874519"/>
            <a:ext cx="3749039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0" i="0">
                <a:solidFill>
                  <a:srgbClr val="5B6B6B"/>
                </a:solidFill>
                <a:latin typeface="Calibri"/>
              </a:rPr>
              <a:t>OpenRouter</a:t>
            </a:r>
          </a:p>
          <a:p>
            <a:pPr algn="ctr"/>
            <a:r>
              <a:rPr sz="1400" b="0" i="0">
                <a:solidFill>
                  <a:srgbClr val="5B6B6B"/>
                </a:solidFill>
                <a:latin typeface="Calibri"/>
              </a:rPr>
              <a:t>(paid inference)</a:t>
            </a:r>
          </a:p>
        </p:txBody>
      </p:sp>
      <p:cxnSp>
        <p:nvCxnSpPr>
          <p:cNvPr id="1036" name="Connector 1035"/>
          <p:cNvCxnSpPr/>
          <p:nvPr/>
        </p:nvCxnSpPr>
        <p:spPr>
          <a:xfrm>
            <a:off x="5394960" y="2560320"/>
            <a:ext cx="1371600" cy="0"/>
          </a:xfrm>
          <a:prstGeom prst="line">
            <a:avLst/>
          </a:prstGeom>
          <a:ln w="31750">
            <a:solidFill>
              <a:srgbClr val="DCD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7" name="Rounded Rectangle 1036"/>
          <p:cNvSpPr/>
          <p:nvPr/>
        </p:nvSpPr>
        <p:spPr>
          <a:xfrm>
            <a:off x="6858000" y="1874519"/>
            <a:ext cx="4114800" cy="1371600"/>
          </a:xfrm>
          <a:prstGeom prst="roundRect">
            <a:avLst>
              <a:gd name="adj" fmla="val 6000"/>
            </a:avLst>
          </a:prstGeom>
          <a:solidFill>
            <a:srgbClr val="1F8E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8" name="TextBox 1037"/>
          <p:cNvSpPr txBox="1"/>
          <p:nvPr/>
        </p:nvSpPr>
        <p:spPr>
          <a:xfrm>
            <a:off x="7040880" y="1874519"/>
            <a:ext cx="3749039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Local Ollama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— ₹0, all targets met</a:t>
            </a:r>
          </a:p>
        </p:txBody>
      </p:sp>
      <p:sp>
        <p:nvSpPr>
          <p:cNvPr id="1039" name="Rounded Rectangle 1038"/>
          <p:cNvSpPr/>
          <p:nvPr/>
        </p:nvSpPr>
        <p:spPr>
          <a:xfrm>
            <a:off x="1188720" y="3566160"/>
            <a:ext cx="4114800" cy="137160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 w="12700">
            <a:solidFill>
              <a:srgbClr val="5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0" name="TextBox 1039"/>
          <p:cNvSpPr txBox="1"/>
          <p:nvPr/>
        </p:nvSpPr>
        <p:spPr>
          <a:xfrm>
            <a:off x="1371600" y="3566160"/>
            <a:ext cx="3749039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0" i="0">
                <a:solidFill>
                  <a:srgbClr val="5B6B6B"/>
                </a:solidFill>
                <a:latin typeface="Calibri"/>
              </a:rPr>
              <a:t>Azure B1s</a:t>
            </a:r>
          </a:p>
          <a:p>
            <a:pPr algn="ctr"/>
            <a:r>
              <a:rPr sz="1400" b="0" i="0">
                <a:solidFill>
                  <a:srgbClr val="5B6B6B"/>
                </a:solidFill>
                <a:latin typeface="Calibri"/>
              </a:rPr>
              <a:t>hosting</a:t>
            </a:r>
          </a:p>
        </p:txBody>
      </p:sp>
      <p:cxnSp>
        <p:nvCxnSpPr>
          <p:cNvPr id="1041" name="Connector 1040"/>
          <p:cNvCxnSpPr/>
          <p:nvPr/>
        </p:nvCxnSpPr>
        <p:spPr>
          <a:xfrm>
            <a:off x="5394960" y="4251960"/>
            <a:ext cx="1371600" cy="0"/>
          </a:xfrm>
          <a:prstGeom prst="line">
            <a:avLst/>
          </a:prstGeom>
          <a:ln w="31750">
            <a:solidFill>
              <a:srgbClr val="DCD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2" name="Rounded Rectangle 1041"/>
          <p:cNvSpPr/>
          <p:nvPr/>
        </p:nvSpPr>
        <p:spPr>
          <a:xfrm>
            <a:off x="6858000" y="3566160"/>
            <a:ext cx="4114800" cy="1371600"/>
          </a:xfrm>
          <a:prstGeom prst="roundRect">
            <a:avLst>
              <a:gd name="adj" fmla="val 6000"/>
            </a:avLst>
          </a:prstGeom>
          <a:solidFill>
            <a:srgbClr val="1F8E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3" name="TextBox 1042"/>
          <p:cNvSpPr txBox="1"/>
          <p:nvPr/>
        </p:nvSpPr>
        <p:spPr>
          <a:xfrm>
            <a:off x="7040880" y="3566160"/>
            <a:ext cx="3749039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Docker Compose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— identical behaviour, local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1188720" y="5349240"/>
            <a:ext cx="9784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1">
                <a:solidFill>
                  <a:srgbClr val="5B6B6B"/>
                </a:solidFill>
                <a:latin typeface="Calibri"/>
              </a:rPr>
              <a:t>Both are a recorded ₹0 decision, not a missed requirement — and both remain a one-line config change away</a:t>
            </a:r>
          </a:p>
        </p:txBody>
      </p:sp>
      <p:sp>
        <p:nvSpPr>
          <p:cNvPr id="5001" name="TextBox 5001"/>
          <p:cNvSpPr txBox="1"/>
          <p:nvPr/>
        </p:nvSpPr>
        <p:spPr>
          <a:xfrm>
            <a:off x="475488" y="768096"/>
            <a:ext cx="10497312" cy="53035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5B6B6B"/>
                </a:solidFill>
                <a:latin typeface="Calibri"/>
              </a:rPr>
              <a:t>Two line items changed because paid inference and cloud hosting were never necessary to hit the proposal’s own targets — not because something was cut.</a:t>
            </a:r>
          </a:p>
        </p:txBody>
      </p:sp>
    </p:spTree>
    <p:extLst>
      <p:ext uri="{BB962C8B-B14F-4D97-AF65-F5344CB8AC3E}">
        <p14:creationId xmlns:p14="http://schemas.microsoft.com/office/powerpoint/2010/main" val="23054563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1B8845-D2C5-5536-A8FF-04653E8B7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12885-E222-46C0-A73A-0560EABD79A8}" type="slidenum">
              <a:rPr lang="en-IN" sz="1000" smtClean="0"/>
              <a:t>9</a:t>
            </a:fld>
            <a:endParaRPr lang="en-IN" sz="1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037355-0C3C-64C1-03B7-6C9BAA0F8EF8}"/>
              </a:ext>
            </a:extLst>
          </p:cNvPr>
          <p:cNvSpPr txBox="1"/>
          <p:nvPr/>
        </p:nvSpPr>
        <p:spPr>
          <a:xfrm>
            <a:off x="2991558" y="2828488"/>
            <a:ext cx="6210125" cy="8925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3200" b="1" dirty="0">
                <a:solidFill>
                  <a:srgbClr val="1F8E91"/>
                </a:solidFill>
                <a:ea typeface="Calibri"/>
                <a:cs typeface="Calibri"/>
              </a:rPr>
              <a:t>THANK YOU</a:t>
            </a:r>
          </a:p>
          <a:p>
            <a:pPr algn="ctr"/>
            <a:endParaRPr lang="en-US" sz="2000" dirty="0">
              <a:solidFill>
                <a:schemeClr val="tx1">
                  <a:lumMod val="76000"/>
                  <a:lumOff val="24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5C6A2C-4B51-1564-7104-6C17CD775A20}"/>
              </a:ext>
            </a:extLst>
          </p:cNvPr>
          <p:cNvSpPr txBox="1"/>
          <p:nvPr/>
        </p:nvSpPr>
        <p:spPr>
          <a:xfrm>
            <a:off x="10082596" y="241514"/>
            <a:ext cx="1895186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rgbClr val="1F8E91"/>
                </a:solidFill>
                <a:ea typeface="Calibri"/>
                <a:cs typeface="Calibri"/>
              </a:rPr>
              <a:t>S4-I-24</a:t>
            </a:r>
            <a:endParaRPr lang="en-US" dirty="0">
              <a:solidFill>
                <a:srgbClr val="FF0000"/>
              </a:solidFill>
              <a:ea typeface="Calibri"/>
              <a:cs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D372F4-5000-D38D-DB2F-E0411A6A93B3}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54C02FF-9BCB-7E26-EA32-0FD6756D0DF4}"/>
              </a:ext>
            </a:extLst>
          </p:cNvPr>
          <p:cNvGrpSpPr/>
          <p:nvPr/>
        </p:nvGrpSpPr>
        <p:grpSpPr>
          <a:xfrm rot="2700000">
            <a:off x="10967489" y="2157469"/>
            <a:ext cx="2008299" cy="2041410"/>
            <a:chOff x="10967489" y="2157469"/>
            <a:chExt cx="1316462" cy="1323298"/>
          </a:xfrm>
        </p:grpSpPr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4A39FF88-710F-BA83-9BCF-5D26BDE7127E}"/>
                </a:ext>
              </a:extLst>
            </p:cNvPr>
            <p:cNvSpPr/>
            <p:nvPr/>
          </p:nvSpPr>
          <p:spPr>
            <a:xfrm>
              <a:off x="10967489" y="2195569"/>
              <a:ext cx="1316462" cy="1285198"/>
            </a:xfrm>
            <a:custGeom>
              <a:avLst/>
              <a:gdLst/>
              <a:ahLst/>
              <a:cxnLst/>
              <a:rect l="l" t="t" r="r" b="b"/>
              <a:pathLst>
                <a:path w="1316462" h="1285198">
                  <a:moveTo>
                    <a:pt x="0" y="0"/>
                  </a:moveTo>
                  <a:lnTo>
                    <a:pt x="1316462" y="0"/>
                  </a:lnTo>
                  <a:lnTo>
                    <a:pt x="1316462" y="1285198"/>
                  </a:lnTo>
                  <a:lnTo>
                    <a:pt x="0" y="1285198"/>
                  </a:lnTo>
                  <a:close/>
                </a:path>
              </a:pathLst>
            </a:custGeom>
            <a:solidFill>
              <a:srgbClr val="DCD400"/>
            </a:solidFill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7">
              <a:extLst>
                <a:ext uri="{FF2B5EF4-FFF2-40B4-BE49-F238E27FC236}">
                  <a16:creationId xmlns:a16="http://schemas.microsoft.com/office/drawing/2014/main" id="{50DFF37D-AE56-1A28-056C-B7BD1B5F56A0}"/>
                </a:ext>
              </a:extLst>
            </p:cNvPr>
            <p:cNvSpPr txBox="1"/>
            <p:nvPr/>
          </p:nvSpPr>
          <p:spPr>
            <a:xfrm>
              <a:off x="10967489" y="2157469"/>
              <a:ext cx="1316462" cy="1323298"/>
            </a:xfrm>
            <a:prstGeom prst="rect">
              <a:avLst/>
            </a:prstGeom>
          </p:spPr>
          <p:txBody>
            <a:bodyPr lIns="33867" tIns="33867" rIns="33867" bIns="33867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773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6867A553-EC1F-8F54-A819-6EB5A46715E1}"/>
              </a:ext>
            </a:extLst>
          </p:cNvPr>
          <p:cNvGrpSpPr/>
          <p:nvPr/>
        </p:nvGrpSpPr>
        <p:grpSpPr>
          <a:xfrm rot="2700000">
            <a:off x="8699025" y="2147080"/>
            <a:ext cx="2008299" cy="2041410"/>
            <a:chOff x="8699025" y="2147080"/>
            <a:chExt cx="1316462" cy="1323298"/>
          </a:xfrm>
          <a:solidFill>
            <a:srgbClr val="1F8E91"/>
          </a:solidFill>
        </p:grpSpPr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25B957A0-07F7-6F9E-C3B4-088C0B3689E9}"/>
                </a:ext>
              </a:extLst>
            </p:cNvPr>
            <p:cNvSpPr/>
            <p:nvPr/>
          </p:nvSpPr>
          <p:spPr>
            <a:xfrm>
              <a:off x="8699025" y="2185180"/>
              <a:ext cx="1316462" cy="1285198"/>
            </a:xfrm>
            <a:custGeom>
              <a:avLst/>
              <a:gdLst/>
              <a:ahLst/>
              <a:cxnLst/>
              <a:rect l="l" t="t" r="r" b="b"/>
              <a:pathLst>
                <a:path w="1316462" h="1285198">
                  <a:moveTo>
                    <a:pt x="0" y="0"/>
                  </a:moveTo>
                  <a:lnTo>
                    <a:pt x="1316462" y="0"/>
                  </a:lnTo>
                  <a:lnTo>
                    <a:pt x="1316462" y="1285198"/>
                  </a:lnTo>
                  <a:lnTo>
                    <a:pt x="0" y="1285198"/>
                  </a:lnTo>
                  <a:close/>
                </a:path>
              </a:pathLst>
            </a:custGeom>
            <a:grpFill/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TextBox 7">
              <a:extLst>
                <a:ext uri="{FF2B5EF4-FFF2-40B4-BE49-F238E27FC236}">
                  <a16:creationId xmlns:a16="http://schemas.microsoft.com/office/drawing/2014/main" id="{10561BAC-6CCF-13CB-E5B3-583A63F887D9}"/>
                </a:ext>
              </a:extLst>
            </p:cNvPr>
            <p:cNvSpPr txBox="1"/>
            <p:nvPr/>
          </p:nvSpPr>
          <p:spPr>
            <a:xfrm>
              <a:off x="8699025" y="2147080"/>
              <a:ext cx="1316462" cy="1323298"/>
            </a:xfrm>
            <a:prstGeom prst="rect">
              <a:avLst/>
            </a:prstGeom>
            <a:grpFill/>
          </p:spPr>
          <p:txBody>
            <a:bodyPr lIns="33867" tIns="33867" rIns="33867" bIns="33867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773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9BFECA43-30DB-4841-11B6-25BA767A2B0B}"/>
              </a:ext>
            </a:extLst>
          </p:cNvPr>
          <p:cNvGrpSpPr/>
          <p:nvPr/>
        </p:nvGrpSpPr>
        <p:grpSpPr>
          <a:xfrm rot="2700000">
            <a:off x="9987076" y="2167860"/>
            <a:ext cx="2008299" cy="2041410"/>
            <a:chOff x="9987076" y="2167860"/>
            <a:chExt cx="1316462" cy="1323298"/>
          </a:xfrm>
          <a:solidFill>
            <a:srgbClr val="1F8E91"/>
          </a:solidFill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E6A6E56D-A13F-2CD9-C7B5-6C9FC55F1A45}"/>
                </a:ext>
              </a:extLst>
            </p:cNvPr>
            <p:cNvSpPr/>
            <p:nvPr/>
          </p:nvSpPr>
          <p:spPr>
            <a:xfrm>
              <a:off x="9987076" y="2205960"/>
              <a:ext cx="1316462" cy="1285198"/>
            </a:xfrm>
            <a:custGeom>
              <a:avLst/>
              <a:gdLst/>
              <a:ahLst/>
              <a:cxnLst/>
              <a:rect l="l" t="t" r="r" b="b"/>
              <a:pathLst>
                <a:path w="1316462" h="1285198">
                  <a:moveTo>
                    <a:pt x="0" y="0"/>
                  </a:moveTo>
                  <a:lnTo>
                    <a:pt x="1316462" y="0"/>
                  </a:lnTo>
                  <a:lnTo>
                    <a:pt x="1316462" y="1285198"/>
                  </a:lnTo>
                  <a:lnTo>
                    <a:pt x="0" y="1285198"/>
                  </a:lnTo>
                  <a:close/>
                </a:path>
              </a:pathLst>
            </a:custGeom>
            <a:grpFill/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TextBox 7">
              <a:extLst>
                <a:ext uri="{FF2B5EF4-FFF2-40B4-BE49-F238E27FC236}">
                  <a16:creationId xmlns:a16="http://schemas.microsoft.com/office/drawing/2014/main" id="{845BF228-1FAC-F571-C341-A2103AD44EC4}"/>
                </a:ext>
              </a:extLst>
            </p:cNvPr>
            <p:cNvSpPr txBox="1"/>
            <p:nvPr/>
          </p:nvSpPr>
          <p:spPr>
            <a:xfrm>
              <a:off x="9987076" y="2167860"/>
              <a:ext cx="1316462" cy="1323298"/>
            </a:xfrm>
            <a:prstGeom prst="rect">
              <a:avLst/>
            </a:prstGeom>
            <a:solidFill>
              <a:srgbClr val="2DB6BB"/>
            </a:solidFill>
          </p:spPr>
          <p:txBody>
            <a:bodyPr lIns="33867" tIns="33867" rIns="33867" bIns="33867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773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1A8E5D3-2781-4E0C-7785-C8B5368E0FED}"/>
              </a:ext>
            </a:extLst>
          </p:cNvPr>
          <p:cNvGrpSpPr/>
          <p:nvPr/>
        </p:nvGrpSpPr>
        <p:grpSpPr>
          <a:xfrm>
            <a:off x="-262562" y="2213083"/>
            <a:ext cx="525124" cy="2026921"/>
            <a:chOff x="-262562" y="2213083"/>
            <a:chExt cx="207456" cy="800759"/>
          </a:xfrm>
        </p:grpSpPr>
        <p:sp>
          <p:nvSpPr>
            <p:cNvPr id="17" name="Freeform 3">
              <a:extLst>
                <a:ext uri="{FF2B5EF4-FFF2-40B4-BE49-F238E27FC236}">
                  <a16:creationId xmlns:a16="http://schemas.microsoft.com/office/drawing/2014/main" id="{F633C376-D099-53BD-AC14-9784BB65FCEE}"/>
                </a:ext>
              </a:extLst>
            </p:cNvPr>
            <p:cNvSpPr/>
            <p:nvPr/>
          </p:nvSpPr>
          <p:spPr>
            <a:xfrm>
              <a:off x="-262562" y="2251183"/>
              <a:ext cx="207456" cy="762659"/>
            </a:xfrm>
            <a:custGeom>
              <a:avLst/>
              <a:gdLst/>
              <a:ahLst/>
              <a:cxnLst/>
              <a:rect l="l" t="t" r="r" b="b"/>
              <a:pathLst>
                <a:path w="207456" h="762659">
                  <a:moveTo>
                    <a:pt x="0" y="0"/>
                  </a:moveTo>
                  <a:lnTo>
                    <a:pt x="207456" y="0"/>
                  </a:lnTo>
                  <a:lnTo>
                    <a:pt x="207456" y="762659"/>
                  </a:lnTo>
                  <a:lnTo>
                    <a:pt x="0" y="762659"/>
                  </a:lnTo>
                  <a:close/>
                </a:path>
              </a:pathLst>
            </a:custGeom>
            <a:solidFill>
              <a:srgbClr val="2DB6BB"/>
            </a:solidFill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TextBox 4">
              <a:extLst>
                <a:ext uri="{FF2B5EF4-FFF2-40B4-BE49-F238E27FC236}">
                  <a16:creationId xmlns:a16="http://schemas.microsoft.com/office/drawing/2014/main" id="{3E6D8649-67A3-98BD-AF25-CC3125B02CEF}"/>
                </a:ext>
              </a:extLst>
            </p:cNvPr>
            <p:cNvSpPr txBox="1"/>
            <p:nvPr/>
          </p:nvSpPr>
          <p:spPr>
            <a:xfrm>
              <a:off x="-262562" y="2213083"/>
              <a:ext cx="207456" cy="800759"/>
            </a:xfrm>
            <a:prstGeom prst="rect">
              <a:avLst/>
            </a:prstGeom>
          </p:spPr>
          <p:txBody>
            <a:bodyPr lIns="33867" tIns="33867" rIns="33867" bIns="33867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ts val="1773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316631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5917f08-b411-4c8c-b73b-478edaa64b5d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2675B97AD28E4A84DDD15DAFC4C3BF" ma:contentTypeVersion="15" ma:contentTypeDescription="Create a new document." ma:contentTypeScope="" ma:versionID="34fe4ac9dce90b3ca86d44f51d6b599b">
  <xsd:schema xmlns:xsd="http://www.w3.org/2001/XMLSchema" xmlns:xs="http://www.w3.org/2001/XMLSchema" xmlns:p="http://schemas.microsoft.com/office/2006/metadata/properties" xmlns:ns3="85917f08-b411-4c8c-b73b-478edaa64b5d" xmlns:ns4="8acdb649-c3dc-403e-8f98-6d94a85edfed" targetNamespace="http://schemas.microsoft.com/office/2006/metadata/properties" ma:root="true" ma:fieldsID="32de2392117b035fb8469ae55c5d331a" ns3:_="" ns4:_="">
    <xsd:import namespace="85917f08-b411-4c8c-b73b-478edaa64b5d"/>
    <xsd:import namespace="8acdb649-c3dc-403e-8f98-6d94a85edfed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DateTaken" minOccurs="0"/>
                <xsd:element ref="ns3:MediaServiceObjectDetectorVersions" minOccurs="0"/>
                <xsd:element ref="ns3:MediaLengthInSecond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5917f08-b411-4c8c-b73b-478edaa64b5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4" nillable="true" ma:displayName="_activity" ma:hidden="true" ma:internalName="_activity">
      <xsd:simpleType>
        <xsd:restriction base="dms:Note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cdb649-c3dc-403e-8f98-6d94a85edfe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DF03512-25DF-493B-9B53-51BE253359EC}">
  <ds:schemaRefs/>
</ds:datastoreItem>
</file>

<file path=customXml/itemProps2.xml><?xml version="1.0" encoding="utf-8"?>
<ds:datastoreItem xmlns:ds="http://schemas.openxmlformats.org/officeDocument/2006/customXml" ds:itemID="{66373FA7-71C7-4D16-9EDE-82A2EECC32F9}">
  <ds:schemaRefs>
    <ds:schemaRef ds:uri="http://schemas.microsoft.com/office/2006/documentManagement/types"/>
    <ds:schemaRef ds:uri="http://schemas.openxmlformats.org/package/2006/metadata/core-properties"/>
    <ds:schemaRef ds:uri="http://purl.org/dc/terms/"/>
    <ds:schemaRef ds:uri="85917f08-b411-4c8c-b73b-478edaa64b5d"/>
    <ds:schemaRef ds:uri="http://purl.org/dc/dcmitype/"/>
    <ds:schemaRef ds:uri="http://schemas.microsoft.com/office/2006/metadata/properties"/>
    <ds:schemaRef ds:uri="http://purl.org/dc/elements/1.1/"/>
    <ds:schemaRef ds:uri="8acdb649-c3dc-403e-8f98-6d94a85edfed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64E5DF6-33F1-4CBE-90C8-28D1C50540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5917f08-b411-4c8c-b73b-478edaa64b5d"/>
    <ds:schemaRef ds:uri="8acdb649-c3dc-403e-8f98-6d94a85edf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753</Words>
  <Application>Microsoft Office PowerPoint</Application>
  <PresentationFormat>Widescreen</PresentationFormat>
  <Paragraphs>119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Sivaram Menon</dc:creator>
  <cp:lastModifiedBy>Sridhar V</cp:lastModifiedBy>
  <cp:revision>25</cp:revision>
  <dcterms:created xsi:type="dcterms:W3CDTF">2023-06-07T10:10:00Z</dcterms:created>
  <dcterms:modified xsi:type="dcterms:W3CDTF">2026-10-14T07:01:28Z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0x0101004D2675B97AD28E4A84DDD15DAFC4C3BF</vt:lpwstr>
  </property>
  <property fmtid="{D5CDD505-2E9C-101B-9397-08002B2CF9AE}" pid="3" name="ICV">
    <vt:lpwstr>D557ECC3AC674A6CB7A90FDC0A14402D_12</vt:lpwstr>
  </property>
  <property fmtid="{D5CDD505-2E9C-101B-9397-08002B2CF9AE}" pid="4" name="KSOProductBuildVer">
    <vt:lpwstr>1033-12.2.0.16731</vt:lpwstr>
  </property>
  <property fmtid="{D5CDD505-2E9C-101B-9397-08002B2CF9AE}" pid="5" name="MediaServiceImageTags">
    <vt:lpwstr/>
  </property>
  <property fmtid="{D5CDD505-2E9C-101B-9397-08002B2CF9AE}" pid="6" name="Order">
    <vt:r8>4800</vt:r8>
  </property>
  <property fmtid="{D5CDD505-2E9C-101B-9397-08002B2CF9AE}" pid="7" name="xd_Signature">
    <vt:bool>false</vt:bool>
  </property>
  <property fmtid="{D5CDD505-2E9C-101B-9397-08002B2CF9AE}" pid="8" name="xd_ProgID">
    <vt:lpwstr/>
  </property>
  <property fmtid="{D5CDD505-2E9C-101B-9397-08002B2CF9AE}" pid="9" name="ComplianceAssetId">
    <vt:lpwstr/>
  </property>
  <property fmtid="{D5CDD505-2E9C-101B-9397-08002B2CF9AE}" pid="10" name="TemplateUrl">
    <vt:lpwstr/>
  </property>
  <property fmtid="{D5CDD505-2E9C-101B-9397-08002B2CF9AE}" pid="11" name="_ExtendedDescription">
    <vt:lpwstr/>
  </property>
  <property fmtid="{D5CDD505-2E9C-101B-9397-08002B2CF9AE}" pid="12" name="TriggerFlowInfo">
    <vt:lpwstr/>
  </property>
</Properties>
</file>