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24">
  <p:sldMasterIdLst>
    <p:sldMasterId id="2147483648" r:id="rId4"/>
  </p:sldMasterIdLst>
  <p:notesMasterIdLst>
    <p:notesMasterId r:id="rId14"/>
  </p:notesMasterIdLst>
  <p:sldIdLst>
    <p:sldId id="1359437" r:id="rId5"/>
    <p:sldId id="1359442" r:id="rId6"/>
    <p:sldId id="1359443" r:id="rId7"/>
    <p:sldId id="1359452" r:id="rId8"/>
    <p:sldId id="1359444" r:id="rId9"/>
    <p:sldId id="1359446" r:id="rId10"/>
    <p:sldId id="1359447" r:id="rId11"/>
    <p:sldId id="1359449" r:id="rId12"/>
    <p:sldId id="135945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77B9A24-1FC8-1D76-391A-173325328625}" name="Aditya Manthena" initials="AM" userId="S::aditya.manthena@psiog.com::0b87e450-5e44-4cd3-aebd-c1a25a66c2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8E91"/>
    <a:srgbClr val="6AD9DC"/>
    <a:srgbClr val="2DB6BB"/>
    <a:srgbClr val="7CDEE0"/>
    <a:srgbClr val="DDFABE"/>
    <a:srgbClr val="DDF6F7"/>
    <a:srgbClr val="59CB64"/>
    <a:srgbClr val="726C6C"/>
    <a:srgbClr val="BEEFF0"/>
    <a:srgbClr val="F09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D99F12-2CB7-8F2F-F67A-BE320314DDD9}" v="122" dt="2025-03-10T10:11:15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0D88B4-EC88-419C-9C7F-4190E1D90D5B}" type="datetimeFigureOut">
              <a:rPr lang="en-IN" smtClean="0"/>
              <a:t>14-10-2026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C9B2E0-7CDC-44AD-B859-109752210CDF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6EF38-BCC4-4DB4-8006-7242EDF0AA54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A9734-26B0-44FC-910E-DC835396DF90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3D3C1-BA39-4E76-A653-9247F65BB297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DEE36-EDE3-4DC0-8F92-80AC6C348809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DBB11-3202-4A77-9B9E-06D8DA216472}" type="datetime1">
              <a:rPr lang="en-IN" smtClean="0"/>
              <a:t>14-10-2026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F4C48-E234-4504-A18C-8880CF66C8BA}" type="datetime1">
              <a:rPr lang="en-IN" smtClean="0"/>
              <a:t>14-10-2026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1C3B6-3A3F-46C1-AE6D-C6F798FDCBC2}" type="datetime1">
              <a:rPr lang="en-IN" smtClean="0"/>
              <a:t>14-10-2026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70807-197F-4F9E-A0A0-F82704CF2A2E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02460-24FF-41EE-B916-7AFF089965AC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BE5D-6372-464B-BCE6-2C2018A96161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6ADDF-8844-4B12-851D-9922200F89CC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02F9B7-D24E-42A1-8420-CE33906B3FB8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 descr="Picture 6"/>
          <p:cNvPicPr>
            <a:picLocks noChangeAspect="1"/>
          </p:cNvPicPr>
          <p:nvPr userDrawn="1"/>
        </p:nvPicPr>
        <p:blipFill rotWithShape="1">
          <a:blip r:embed="rId13" cstate="email"/>
          <a:srcRect/>
          <a:stretch>
            <a:fillRect/>
          </a:stretch>
        </p:blipFill>
        <p:spPr>
          <a:xfrm>
            <a:off x="0" y="6368764"/>
            <a:ext cx="361012" cy="377727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14" cstate="email">
            <a:alphaModFix amt="5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>
          <a:xfrm>
            <a:off x="3519746" y="2707292"/>
            <a:ext cx="5152516" cy="1457277"/>
          </a:xfrm>
          <a:prstGeom prst="rect">
            <a:avLst/>
          </a:prstGeom>
        </p:spPr>
      </p:pic>
      <p:grpSp>
        <p:nvGrpSpPr>
          <p:cNvPr id="12" name="Group 11"/>
          <p:cNvGrpSpPr/>
          <p:nvPr userDrawn="1"/>
        </p:nvGrpSpPr>
        <p:grpSpPr>
          <a:xfrm rot="10800000">
            <a:off x="0" y="6736937"/>
            <a:ext cx="12192000" cy="121063"/>
            <a:chOff x="71284" y="-5188"/>
            <a:chExt cx="12192000" cy="121063"/>
          </a:xfrm>
        </p:grpSpPr>
        <p:sp>
          <p:nvSpPr>
            <p:cNvPr id="13" name="Rectangle 12"/>
            <p:cNvSpPr/>
            <p:nvPr userDrawn="1"/>
          </p:nvSpPr>
          <p:spPr>
            <a:xfrm>
              <a:off x="71284" y="2113"/>
              <a:ext cx="12192000" cy="113762"/>
            </a:xfrm>
            <a:prstGeom prst="rect">
              <a:avLst/>
            </a:prstGeom>
            <a:solidFill>
              <a:srgbClr val="E5D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71284" y="-5188"/>
              <a:ext cx="12192000" cy="39872"/>
            </a:xfrm>
            <a:prstGeom prst="rect">
              <a:avLst/>
            </a:prstGeom>
            <a:solidFill>
              <a:srgbClr val="807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0" y="750"/>
            <a:ext cx="12192000" cy="1219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B8845-D2C5-5536-A8FF-04653E8B7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1</a:t>
            </a:fld>
            <a:endParaRPr lang="en-IN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37355-0C3C-64C1-03B7-6C9BAA0F8EF8}"/>
              </a:ext>
            </a:extLst>
          </p:cNvPr>
          <p:cNvSpPr txBox="1"/>
          <p:nvPr/>
        </p:nvSpPr>
        <p:spPr>
          <a:xfrm>
            <a:off x="2995079" y="2463249"/>
            <a:ext cx="621012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1F8E91"/>
                </a:solidFill>
                <a:ea typeface="Calibri"/>
                <a:cs typeface="Calibri"/>
              </a:rPr>
              <a:t>Psiog Kendra</a:t>
            </a:r>
          </a:p>
          <a:p>
            <a:pPr algn="ctr"/>
            <a:endParaRPr lang="en-US" sz="2000">
              <a:solidFill>
                <a:schemeClr val="tx1">
                  <a:lumMod val="76000"/>
                  <a:lumOff val="24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en-US" sz="2000" i="1" dirty="0">
                <a:solidFill>
                  <a:schemeClr val="tx1">
                    <a:lumMod val="76000"/>
                    <a:lumOff val="24000"/>
                  </a:schemeClr>
                </a:solidFill>
              </a:rPr>
              <a:t>GenAI-Powered Enterprise Copilot</a:t>
            </a:r>
            <a:endParaRPr lang="en-US" i="1" dirty="0">
              <a:solidFill>
                <a:schemeClr val="tx1">
                  <a:lumMod val="76000"/>
                  <a:lumOff val="24000"/>
                </a:schemeClr>
              </a:solidFill>
            </a:endParaRPr>
          </a:p>
          <a:p>
            <a:pPr algn="ctr"/>
            <a:r>
              <a:rPr lang="en-US" sz="2000" i="1" dirty="0">
                <a:solidFill>
                  <a:schemeClr val="tx1">
                    <a:lumMod val="76000"/>
                    <a:lumOff val="24000"/>
                  </a:schemeClr>
                </a:solidFill>
              </a:rPr>
              <a:t>Live Review — RFP S4-I-24</a:t>
            </a:r>
            <a:endParaRPr lang="en-US" i="1" dirty="0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C6A2C-4B51-1564-7104-6C17CD775A20}"/>
              </a:ext>
            </a:extLst>
          </p:cNvPr>
          <p:cNvSpPr txBox="1"/>
          <p:nvPr/>
        </p:nvSpPr>
        <p:spPr>
          <a:xfrm>
            <a:off x="10082596" y="241514"/>
            <a:ext cx="1895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rgbClr val="1F8E91"/>
                </a:solidFill>
                <a:ea typeface="Calibri"/>
                <a:cs typeface="Calibri"/>
              </a:rPr>
              <a:t>S4-I-24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372F4-5000-D38D-DB2F-E0411A6A93B3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4C02FF-9BCB-7E26-EA32-0FD6756D0DF4}"/>
              </a:ext>
            </a:extLst>
          </p:cNvPr>
          <p:cNvGrpSpPr/>
          <p:nvPr/>
        </p:nvGrpSpPr>
        <p:grpSpPr>
          <a:xfrm rot="2700000">
            <a:off x="10967489" y="2157469"/>
            <a:ext cx="2008299" cy="2041410"/>
            <a:chOff x="10967489" y="2157469"/>
            <a:chExt cx="1316462" cy="132329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A39FF88-710F-BA83-9BCF-5D26BDE7127E}"/>
                </a:ext>
              </a:extLst>
            </p:cNvPr>
            <p:cNvSpPr/>
            <p:nvPr/>
          </p:nvSpPr>
          <p:spPr>
            <a:xfrm>
              <a:off x="10967489" y="2195569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solidFill>
              <a:srgbClr val="DCD400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50DFF37D-AE56-1A28-056C-B7BD1B5F56A0}"/>
                </a:ext>
              </a:extLst>
            </p:cNvPr>
            <p:cNvSpPr txBox="1"/>
            <p:nvPr/>
          </p:nvSpPr>
          <p:spPr>
            <a:xfrm>
              <a:off x="10967489" y="2157469"/>
              <a:ext cx="1316462" cy="1323298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67A553-EC1F-8F54-A819-6EB5A46715E1}"/>
              </a:ext>
            </a:extLst>
          </p:cNvPr>
          <p:cNvGrpSpPr/>
          <p:nvPr/>
        </p:nvGrpSpPr>
        <p:grpSpPr>
          <a:xfrm rot="2700000">
            <a:off x="8699025" y="2147080"/>
            <a:ext cx="2008299" cy="2041410"/>
            <a:chOff x="8699025" y="2147080"/>
            <a:chExt cx="1316462" cy="1323298"/>
          </a:xfrm>
          <a:solidFill>
            <a:srgbClr val="1F8E91"/>
          </a:solidFill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5B957A0-07F7-6F9E-C3B4-088C0B3689E9}"/>
                </a:ext>
              </a:extLst>
            </p:cNvPr>
            <p:cNvSpPr/>
            <p:nvPr/>
          </p:nvSpPr>
          <p:spPr>
            <a:xfrm>
              <a:off x="8699025" y="218518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10561BAC-6CCF-13CB-E5B3-583A63F887D9}"/>
                </a:ext>
              </a:extLst>
            </p:cNvPr>
            <p:cNvSpPr txBox="1"/>
            <p:nvPr/>
          </p:nvSpPr>
          <p:spPr>
            <a:xfrm>
              <a:off x="8699025" y="2147080"/>
              <a:ext cx="1316462" cy="1323298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BFECA43-30DB-4841-11B6-25BA767A2B0B}"/>
              </a:ext>
            </a:extLst>
          </p:cNvPr>
          <p:cNvGrpSpPr/>
          <p:nvPr/>
        </p:nvGrpSpPr>
        <p:grpSpPr>
          <a:xfrm rot="2700000">
            <a:off x="9987076" y="2167860"/>
            <a:ext cx="2008299" cy="2041410"/>
            <a:chOff x="9987076" y="2167860"/>
            <a:chExt cx="1316462" cy="1323298"/>
          </a:xfrm>
          <a:solidFill>
            <a:srgbClr val="1F8E91"/>
          </a:solidFill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E6A6E56D-A13F-2CD9-C7B5-6C9FC55F1A45}"/>
                </a:ext>
              </a:extLst>
            </p:cNvPr>
            <p:cNvSpPr/>
            <p:nvPr/>
          </p:nvSpPr>
          <p:spPr>
            <a:xfrm>
              <a:off x="9987076" y="220596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845BF228-1FAC-F571-C341-A2103AD44EC4}"/>
                </a:ext>
              </a:extLst>
            </p:cNvPr>
            <p:cNvSpPr txBox="1"/>
            <p:nvPr/>
          </p:nvSpPr>
          <p:spPr>
            <a:xfrm>
              <a:off x="9987076" y="2167860"/>
              <a:ext cx="1316462" cy="1323298"/>
            </a:xfrm>
            <a:prstGeom prst="rect">
              <a:avLst/>
            </a:prstGeom>
            <a:solidFill>
              <a:srgbClr val="2DB6BB"/>
            </a:solidFill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8E5D3-2781-4E0C-7785-C8B5368E0FED}"/>
              </a:ext>
            </a:extLst>
          </p:cNvPr>
          <p:cNvGrpSpPr/>
          <p:nvPr/>
        </p:nvGrpSpPr>
        <p:grpSpPr>
          <a:xfrm>
            <a:off x="-262562" y="2213083"/>
            <a:ext cx="525124" cy="2026921"/>
            <a:chOff x="-262562" y="2213083"/>
            <a:chExt cx="207456" cy="800759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F633C376-D099-53BD-AC14-9784BB65FCEE}"/>
                </a:ext>
              </a:extLst>
            </p:cNvPr>
            <p:cNvSpPr/>
            <p:nvPr/>
          </p:nvSpPr>
          <p:spPr>
            <a:xfrm>
              <a:off x="-262562" y="2251183"/>
              <a:ext cx="207456" cy="762659"/>
            </a:xfrm>
            <a:custGeom>
              <a:avLst/>
              <a:gdLst/>
              <a:ahLst/>
              <a:cxnLst/>
              <a:rect l="l" t="t" r="r" b="b"/>
              <a:pathLst>
                <a:path w="207456" h="762659">
                  <a:moveTo>
                    <a:pt x="0" y="0"/>
                  </a:moveTo>
                  <a:lnTo>
                    <a:pt x="207456" y="0"/>
                  </a:lnTo>
                  <a:lnTo>
                    <a:pt x="207456" y="762659"/>
                  </a:lnTo>
                  <a:lnTo>
                    <a:pt x="0" y="762659"/>
                  </a:lnTo>
                  <a:close/>
                </a:path>
              </a:pathLst>
            </a:custGeom>
            <a:solidFill>
              <a:srgbClr val="2DB6BB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E6D8649-67A3-98BD-AF25-CC3125B02CEF}"/>
                </a:ext>
              </a:extLst>
            </p:cNvPr>
            <p:cNvSpPr txBox="1"/>
            <p:nvPr/>
          </p:nvSpPr>
          <p:spPr>
            <a:xfrm>
              <a:off x="-262562" y="2213083"/>
              <a:ext cx="207456" cy="800759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32" name="TextBox 1031"/>
          <p:cNvSpPr txBox="1"/>
          <p:nvPr/>
        </p:nvSpPr>
        <p:spPr>
          <a:xfrm>
            <a:off x="1828800" y="3977639"/>
            <a:ext cx="85313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Sridhar Vetrivel  ·  Semester 4 Capstone</a:t>
            </a:r>
          </a:p>
        </p:txBody>
      </p:sp>
    </p:spTree>
    <p:extLst>
      <p:ext uri="{BB962C8B-B14F-4D97-AF65-F5344CB8AC3E}">
        <p14:creationId xmlns:p14="http://schemas.microsoft.com/office/powerpoint/2010/main" val="4031663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2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1130881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Agenda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RFP Evaluation Criteria</a:t>
            </a:r>
          </a:p>
        </p:txBody>
      </p:sp>
      <p:sp>
        <p:nvSpPr>
          <p:cNvPr id="1033" name="Oval 1032"/>
          <p:cNvSpPr/>
          <p:nvPr/>
        </p:nvSpPr>
        <p:spPr>
          <a:xfrm>
            <a:off x="548640" y="1600200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TextBox 1033"/>
          <p:cNvSpPr txBox="1"/>
          <p:nvPr/>
        </p:nvSpPr>
        <p:spPr>
          <a:xfrm>
            <a:off x="777240" y="1472184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Problem Understanding</a:t>
            </a:r>
          </a:p>
        </p:txBody>
      </p:sp>
      <p:sp>
        <p:nvSpPr>
          <p:cNvPr id="1035" name="Oval 1034"/>
          <p:cNvSpPr/>
          <p:nvPr/>
        </p:nvSpPr>
        <p:spPr>
          <a:xfrm>
            <a:off x="548640" y="2130552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6" name="TextBox 1035"/>
          <p:cNvSpPr txBox="1"/>
          <p:nvPr/>
        </p:nvSpPr>
        <p:spPr>
          <a:xfrm>
            <a:off x="777240" y="2002536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Solution Quality</a:t>
            </a:r>
          </a:p>
        </p:txBody>
      </p:sp>
      <p:sp>
        <p:nvSpPr>
          <p:cNvPr id="1037" name="Oval 1036"/>
          <p:cNvSpPr/>
          <p:nvPr/>
        </p:nvSpPr>
        <p:spPr>
          <a:xfrm>
            <a:off x="548640" y="2660904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777240" y="2532888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3030"/>
                </a:solidFill>
                <a:latin typeface="Calibri"/>
              </a:rPr>
              <a:t>AI Integration Depth</a:t>
            </a:r>
          </a:p>
        </p:txBody>
      </p:sp>
      <p:sp>
        <p:nvSpPr>
          <p:cNvPr id="1039" name="Oval 1038"/>
          <p:cNvSpPr/>
          <p:nvPr/>
        </p:nvSpPr>
        <p:spPr>
          <a:xfrm>
            <a:off x="548640" y="3191256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777240" y="30632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QA Strategy</a:t>
            </a:r>
          </a:p>
        </p:txBody>
      </p:sp>
      <p:sp>
        <p:nvSpPr>
          <p:cNvPr id="1041" name="Oval 1040"/>
          <p:cNvSpPr/>
          <p:nvPr/>
        </p:nvSpPr>
        <p:spPr>
          <a:xfrm>
            <a:off x="548640" y="3721608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TextBox 1041"/>
          <p:cNvSpPr txBox="1"/>
          <p:nvPr/>
        </p:nvSpPr>
        <p:spPr>
          <a:xfrm>
            <a:off x="777240" y="359359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Budget &amp; Cost Justification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492240" y="11430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Also Covered</a:t>
            </a:r>
          </a:p>
        </p:txBody>
      </p:sp>
      <p:sp>
        <p:nvSpPr>
          <p:cNvPr id="1046" name="Oval 1045"/>
          <p:cNvSpPr/>
          <p:nvPr/>
        </p:nvSpPr>
        <p:spPr>
          <a:xfrm>
            <a:off x="6492240" y="1691640"/>
            <a:ext cx="73152" cy="73152"/>
          </a:xfrm>
          <a:prstGeom prst="ellipse">
            <a:avLst/>
          </a:prstGeom>
          <a:solidFill>
            <a:srgbClr val="DC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7" name="TextBox 1046"/>
          <p:cNvSpPr txBox="1"/>
          <p:nvPr/>
        </p:nvSpPr>
        <p:spPr>
          <a:xfrm>
            <a:off x="6720840" y="156362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Scope Decisions — what changed, and why</a:t>
            </a:r>
          </a:p>
        </p:txBody>
      </p:sp>
      <p:sp>
        <p:nvSpPr>
          <p:cNvPr id="1048" name="Oval 1047"/>
          <p:cNvSpPr/>
          <p:nvPr/>
        </p:nvSpPr>
        <p:spPr>
          <a:xfrm>
            <a:off x="6492240" y="2313432"/>
            <a:ext cx="73152" cy="73152"/>
          </a:xfrm>
          <a:prstGeom prst="ellipse">
            <a:avLst/>
          </a:prstGeom>
          <a:solidFill>
            <a:srgbClr val="DC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9" name="TextBox 1048"/>
          <p:cNvSpPr txBox="1"/>
          <p:nvPr/>
        </p:nvSpPr>
        <p:spPr>
          <a:xfrm>
            <a:off x="6720840" y="218541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Live Walkthrough Plan — what we will demonstrate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3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Problem Understanding</a:t>
            </a:r>
          </a:p>
        </p:txBody>
      </p:sp>
      <p:sp>
        <p:nvSpPr>
          <p:cNvPr id="2001" name="TextBox 2001"/>
          <p:cNvSpPr txBox="1"/>
          <p:nvPr/>
        </p:nvSpPr>
        <p:spPr>
          <a:xfrm>
            <a:off x="475488" y="914400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The Problem</a:t>
            </a:r>
          </a:p>
        </p:txBody>
      </p:sp>
      <p:sp>
        <p:nvSpPr>
          <p:cNvPr id="2002" name="TextBox 2002"/>
          <p:cNvSpPr txBox="1"/>
          <p:nvPr/>
        </p:nvSpPr>
        <p:spPr>
          <a:xfrm>
            <a:off x="475488" y="1188720"/>
            <a:ext cx="5102352" cy="1737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3030"/>
                </a:solidFill>
                <a:latin typeface="Calibri"/>
              </a:rPr>
              <a:t>Psiog's engineering, data, and ops teams work across a growing estate — data platforms, DevOps pipelines, CRM, and internal documentation — with no common interface between them. Platform knowledge concentrates in a few senior engineers, there is no multi-agent architecture to route domain-specific queries to the right specialist, and no grounding layer to stop an assistant answering from training data instead of live system state.</a:t>
            </a:r>
          </a:p>
        </p:txBody>
      </p:sp>
      <p:sp>
        <p:nvSpPr>
          <p:cNvPr id="2003" name="TextBox 2003"/>
          <p:cNvSpPr txBox="1"/>
          <p:nvPr/>
        </p:nvSpPr>
        <p:spPr>
          <a:xfrm>
            <a:off x="475488" y="3035808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Our Understanding &amp; Approach</a:t>
            </a:r>
          </a:p>
        </p:txBody>
      </p:sp>
      <p:sp>
        <p:nvSpPr>
          <p:cNvPr id="2004" name="TextBox 2004"/>
          <p:cNvSpPr txBox="1"/>
          <p:nvPr/>
        </p:nvSpPr>
        <p:spPr>
          <a:xfrm>
            <a:off x="475488" y="3310128"/>
            <a:ext cx="5102352" cy="1508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3030"/>
                </a:solidFill>
                <a:latin typeface="Calibri"/>
              </a:rPr>
              <a:t>We read this as four distinct problems, not one generalist prompt. Psiog Kendra assigns one specialist agent per domain and a coordinator that classifies intent by LLM, not keywords. Every answer is grounded and cited to the exact job run, deployment, or runbook behind it — so the knowledge moves into a system of record instead of staying in one person’s head.</a:t>
            </a:r>
          </a:p>
        </p:txBody>
      </p:sp>
      <p:sp>
        <p:nvSpPr>
          <p:cNvPr id="3001" name="Rounded Rectangle 301"/>
          <p:cNvSpPr/>
          <p:nvPr/>
        </p:nvSpPr>
        <p:spPr>
          <a:xfrm>
            <a:off x="5943600" y="91440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1" name="TextBox 3011"/>
          <p:cNvSpPr txBox="1"/>
          <p:nvPr/>
        </p:nvSpPr>
        <p:spPr>
          <a:xfrm>
            <a:off x="6035040" y="91440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Databricks</a:t>
            </a:r>
          </a:p>
        </p:txBody>
      </p:sp>
      <p:sp>
        <p:nvSpPr>
          <p:cNvPr id="3002" name="Rounded Rectangle 302"/>
          <p:cNvSpPr/>
          <p:nvPr/>
        </p:nvSpPr>
        <p:spPr>
          <a:xfrm>
            <a:off x="8942832" y="91440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2" name="TextBox 3012"/>
          <p:cNvSpPr txBox="1"/>
          <p:nvPr/>
        </p:nvSpPr>
        <p:spPr>
          <a:xfrm>
            <a:off x="9034272" y="91440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GitHub /</a:t>
            </a:r>
          </a:p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Azure DevOps</a:t>
            </a:r>
          </a:p>
        </p:txBody>
      </p:sp>
      <p:sp>
        <p:nvSpPr>
          <p:cNvPr id="3003" name="Rounded Rectangle 303"/>
          <p:cNvSpPr/>
          <p:nvPr/>
        </p:nvSpPr>
        <p:spPr>
          <a:xfrm>
            <a:off x="5943600" y="178308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3" name="TextBox 3013"/>
          <p:cNvSpPr txBox="1"/>
          <p:nvPr/>
        </p:nvSpPr>
        <p:spPr>
          <a:xfrm>
            <a:off x="6035040" y="178308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CRM</a:t>
            </a:r>
          </a:p>
        </p:txBody>
      </p:sp>
      <p:sp>
        <p:nvSpPr>
          <p:cNvPr id="3004" name="Rounded Rectangle 304"/>
          <p:cNvSpPr/>
          <p:nvPr/>
        </p:nvSpPr>
        <p:spPr>
          <a:xfrm>
            <a:off x="8942832" y="178308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4" name="TextBox 3014"/>
          <p:cNvSpPr txBox="1"/>
          <p:nvPr/>
        </p:nvSpPr>
        <p:spPr>
          <a:xfrm>
            <a:off x="9034272" y="178308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Internal Docs</a:t>
            </a:r>
          </a:p>
        </p:txBody>
      </p:sp>
      <p:cxnSp>
        <p:nvCxnSpPr>
          <p:cNvPr id="3020" name="Connector 3020"/>
          <p:cNvCxnSpPr/>
          <p:nvPr/>
        </p:nvCxnSpPr>
        <p:spPr>
          <a:xfrm>
            <a:off x="8828532" y="2423160"/>
            <a:ext cx="0" cy="228600"/>
          </a:xfrm>
          <a:prstGeom prst="line">
            <a:avLst/>
          </a:prstGeom>
          <a:ln w="15875">
            <a:solidFill>
              <a:srgbClr val="5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1" name="Rounded Rectangle 3021"/>
          <p:cNvSpPr/>
          <p:nvPr/>
        </p:nvSpPr>
        <p:spPr>
          <a:xfrm>
            <a:off x="5943600" y="2651760"/>
            <a:ext cx="5769864" cy="64008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2" name="TextBox 3022"/>
          <p:cNvSpPr txBox="1"/>
          <p:nvPr/>
        </p:nvSpPr>
        <p:spPr>
          <a:xfrm>
            <a:off x="6126480" y="2651760"/>
            <a:ext cx="5404104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Tribal knowledge bottleneck</a:t>
            </a:r>
          </a:p>
        </p:txBody>
      </p:sp>
      <p:cxnSp>
        <p:nvCxnSpPr>
          <p:cNvPr id="3023" name="Connector 3023"/>
          <p:cNvCxnSpPr/>
          <p:nvPr/>
        </p:nvCxnSpPr>
        <p:spPr>
          <a:xfrm>
            <a:off x="8828532" y="3291840"/>
            <a:ext cx="0" cy="228600"/>
          </a:xfrm>
          <a:prstGeom prst="line">
            <a:avLst/>
          </a:prstGeom>
          <a:ln w="15875">
            <a:solidFill>
              <a:srgbClr val="5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4" name="Rounded Rectangle 3024"/>
          <p:cNvSpPr/>
          <p:nvPr/>
        </p:nvSpPr>
        <p:spPr>
          <a:xfrm>
            <a:off x="5943600" y="3520440"/>
            <a:ext cx="5769864" cy="118872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2DB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5" name="TextBox 3025"/>
          <p:cNvSpPr txBox="1"/>
          <p:nvPr/>
        </p:nvSpPr>
        <p:spPr>
          <a:xfrm>
            <a:off x="6172200" y="3520440"/>
            <a:ext cx="5312664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3030"/>
                </a:solidFill>
                <a:latin typeface="Calibri"/>
              </a:rPr>
              <a:t>The real risk: an ungrounded AI answer is confidently wrong — worse than no assistant at all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4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rgbClr val="1F8E91"/>
                </a:solidFill>
                <a:ea typeface="Calibri"/>
                <a:cs typeface="Calibri"/>
              </a:rPr>
              <a:t>Architecture</a:t>
            </a:r>
          </a:p>
        </p:txBody>
      </p:sp>
      <p:sp>
        <p:nvSpPr>
          <p:cNvPr id="3001" name="Box 3001"/>
          <p:cNvSpPr/>
          <p:nvPr/>
        </p:nvSpPr>
        <p:spPr>
          <a:xfrm>
            <a:off x="411480" y="914400"/>
            <a:ext cx="9006840" cy="502920"/>
          </a:xfrm>
          <a:prstGeom prst="roundRect">
            <a:avLst>
              <a:gd name="adj" fmla="val 6000"/>
            </a:avLst>
          </a:prstGeom>
          <a:solidFill>
            <a:srgbClr val="DBE4FF"/>
          </a:solidFill>
          <a:ln w="19050">
            <a:solidFill>
              <a:srgbClr val="1971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02" name="Label 3002"/>
          <p:cNvSpPr txBox="1"/>
          <p:nvPr/>
        </p:nvSpPr>
        <p:spPr>
          <a:xfrm>
            <a:off x="484632" y="914400"/>
            <a:ext cx="88605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1971C2"/>
                </a:solidFill>
                <a:latin typeface="Calibri"/>
              </a:rPr>
              <a:t>CLIENT / ACCESS LAYER</a:t>
            </a:r>
          </a:p>
        </p:txBody>
      </p:sp>
      <p:cxnSp>
        <p:nvCxnSpPr>
          <p:cNvPr id="3007" name="Arrow 3008"/>
          <p:cNvCxnSpPr>
            <a:cxnSpLocks/>
            <a:stCxn id="3002" idx="2"/>
          </p:cNvCxnSpPr>
          <p:nvPr/>
        </p:nvCxnSpPr>
        <p:spPr>
          <a:xfrm>
            <a:off x="4914900" y="1417320"/>
            <a:ext cx="0" cy="406591"/>
          </a:xfrm>
          <a:prstGeom prst="line">
            <a:avLst/>
          </a:prstGeom>
          <a:ln w="15875">
            <a:solidFill>
              <a:srgbClr val="4950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9" name="Box 3009"/>
          <p:cNvSpPr/>
          <p:nvPr/>
        </p:nvSpPr>
        <p:spPr>
          <a:xfrm>
            <a:off x="640080" y="2134807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E7EDFF"/>
          </a:solidFill>
          <a:ln w="19050">
            <a:solidFill>
              <a:srgbClr val="3B5BD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10" name="Label 3010"/>
          <p:cNvSpPr txBox="1"/>
          <p:nvPr/>
        </p:nvSpPr>
        <p:spPr>
          <a:xfrm>
            <a:off x="713232" y="2134807"/>
            <a:ext cx="84033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3B5BDB"/>
                </a:solidFill>
                <a:latin typeface="Calibri"/>
              </a:rPr>
              <a:t>COORDINATOR AGENT</a:t>
            </a:r>
          </a:p>
        </p:txBody>
      </p:sp>
      <p:cxnSp>
        <p:nvCxnSpPr>
          <p:cNvPr id="3011" name="Fan 3012"/>
          <p:cNvCxnSpPr/>
          <p:nvPr/>
        </p:nvCxnSpPr>
        <p:spPr>
          <a:xfrm flipH="1">
            <a:off x="1708785" y="2637727"/>
            <a:ext cx="320611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3" name="Fan 3014"/>
          <p:cNvCxnSpPr/>
          <p:nvPr/>
        </p:nvCxnSpPr>
        <p:spPr>
          <a:xfrm flipH="1">
            <a:off x="3846195" y="2637727"/>
            <a:ext cx="106870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5" name="Fan 3016"/>
          <p:cNvCxnSpPr/>
          <p:nvPr/>
        </p:nvCxnSpPr>
        <p:spPr>
          <a:xfrm>
            <a:off x="4914900" y="2637727"/>
            <a:ext cx="106870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7" name="Fan 3018"/>
          <p:cNvCxnSpPr/>
          <p:nvPr/>
        </p:nvCxnSpPr>
        <p:spPr>
          <a:xfrm>
            <a:off x="4914900" y="2637727"/>
            <a:ext cx="320611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9" name="Box 3019"/>
          <p:cNvSpPr/>
          <p:nvPr/>
        </p:nvSpPr>
        <p:spPr>
          <a:xfrm>
            <a:off x="64008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0" name="Label 3020"/>
          <p:cNvSpPr txBox="1"/>
          <p:nvPr/>
        </p:nvSpPr>
        <p:spPr>
          <a:xfrm>
            <a:off x="71323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DATA AGENT</a:t>
            </a:r>
          </a:p>
        </p:txBody>
      </p:sp>
      <p:sp>
        <p:nvSpPr>
          <p:cNvPr id="3021" name="Box 3021"/>
          <p:cNvSpPr/>
          <p:nvPr/>
        </p:nvSpPr>
        <p:spPr>
          <a:xfrm>
            <a:off x="282321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2" name="Label 3022"/>
          <p:cNvSpPr txBox="1"/>
          <p:nvPr/>
        </p:nvSpPr>
        <p:spPr>
          <a:xfrm>
            <a:off x="289636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DEVOPS AGENT</a:t>
            </a:r>
          </a:p>
        </p:txBody>
      </p:sp>
      <p:sp>
        <p:nvSpPr>
          <p:cNvPr id="3023" name="Box 3023"/>
          <p:cNvSpPr/>
          <p:nvPr/>
        </p:nvSpPr>
        <p:spPr>
          <a:xfrm>
            <a:off x="500634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4" name="Label 3024"/>
          <p:cNvSpPr txBox="1"/>
          <p:nvPr/>
        </p:nvSpPr>
        <p:spPr>
          <a:xfrm>
            <a:off x="507949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CRM AGENT</a:t>
            </a:r>
          </a:p>
        </p:txBody>
      </p:sp>
      <p:sp>
        <p:nvSpPr>
          <p:cNvPr id="3025" name="Box 3025"/>
          <p:cNvSpPr/>
          <p:nvPr/>
        </p:nvSpPr>
        <p:spPr>
          <a:xfrm>
            <a:off x="718947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6" name="Label 3026"/>
          <p:cNvSpPr txBox="1"/>
          <p:nvPr/>
        </p:nvSpPr>
        <p:spPr>
          <a:xfrm>
            <a:off x="726262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DOCS / RAG AGENT</a:t>
            </a:r>
          </a:p>
        </p:txBody>
      </p:sp>
      <p:sp>
        <p:nvSpPr>
          <p:cNvPr id="3027" name="Outer 3028"/>
          <p:cNvSpPr/>
          <p:nvPr/>
        </p:nvSpPr>
        <p:spPr>
          <a:xfrm>
            <a:off x="411480" y="1823911"/>
            <a:ext cx="9006840" cy="1792224"/>
          </a:xfrm>
          <a:prstGeom prst="rect">
            <a:avLst/>
          </a:prstGeom>
          <a:noFill/>
          <a:ln w="19050">
            <a:solidFill>
              <a:srgbClr val="2B8A3E"/>
            </a:solidFill>
          </a:ln>
        </p:spPr>
        <p:txBody>
          <a:bodyPr rtlCol="0"/>
          <a:lstStyle/>
          <a:p>
            <a:endParaRPr/>
          </a:p>
        </p:txBody>
      </p:sp>
      <p:sp>
        <p:nvSpPr>
          <p:cNvPr id="3029" name="OuterLabel 3030"/>
          <p:cNvSpPr txBox="1"/>
          <p:nvPr/>
        </p:nvSpPr>
        <p:spPr>
          <a:xfrm>
            <a:off x="411480" y="1833055"/>
            <a:ext cx="90068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 dirty="0">
                <a:solidFill>
                  <a:srgbClr val="2B8A3E"/>
                </a:solidFill>
                <a:latin typeface="Calibri"/>
              </a:rPr>
              <a:t>ORCHESTRATION CONTROL PLANE</a:t>
            </a:r>
            <a:r>
              <a:rPr lang="en-IN" sz="1300" b="1" i="0" dirty="0">
                <a:solidFill>
                  <a:srgbClr val="2B8A3E"/>
                </a:solidFill>
                <a:latin typeface="Calibri"/>
              </a:rPr>
              <a:t> (AGENTFIELD)</a:t>
            </a:r>
            <a:endParaRPr sz="1300" b="1" i="0" dirty="0">
              <a:solidFill>
                <a:srgbClr val="2B8A3E"/>
              </a:solidFill>
              <a:latin typeface="Calibri"/>
            </a:endParaRPr>
          </a:p>
        </p:txBody>
      </p:sp>
      <p:sp>
        <p:nvSpPr>
          <p:cNvPr id="3031" name="Box 3031"/>
          <p:cNvSpPr/>
          <p:nvPr/>
        </p:nvSpPr>
        <p:spPr>
          <a:xfrm>
            <a:off x="411480" y="3844735"/>
            <a:ext cx="9006840" cy="502920"/>
          </a:xfrm>
          <a:prstGeom prst="roundRect">
            <a:avLst>
              <a:gd name="adj" fmla="val 6000"/>
            </a:avLst>
          </a:prstGeom>
          <a:solidFill>
            <a:srgbClr val="F8F0FC"/>
          </a:solidFill>
          <a:ln w="19050">
            <a:solidFill>
              <a:srgbClr val="9C36B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2" name="Label 3032"/>
          <p:cNvSpPr txBox="1"/>
          <p:nvPr/>
        </p:nvSpPr>
        <p:spPr>
          <a:xfrm>
            <a:off x="484632" y="3844735"/>
            <a:ext cx="88605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9C36B5"/>
                </a:solidFill>
                <a:latin typeface="Calibri"/>
              </a:rPr>
              <a:t>KNOWLEDGE &amp; RETRIEVAL LAYER</a:t>
            </a:r>
          </a:p>
        </p:txBody>
      </p:sp>
      <p:cxnSp>
        <p:nvCxnSpPr>
          <p:cNvPr id="3033" name="Arrow 3034"/>
          <p:cNvCxnSpPr/>
          <p:nvPr/>
        </p:nvCxnSpPr>
        <p:spPr>
          <a:xfrm>
            <a:off x="4914900" y="4347655"/>
            <a:ext cx="0" cy="237744"/>
          </a:xfrm>
          <a:prstGeom prst="line">
            <a:avLst/>
          </a:prstGeom>
          <a:ln w="15875">
            <a:solidFill>
              <a:srgbClr val="4950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5" name="Box 3035"/>
          <p:cNvSpPr/>
          <p:nvPr/>
        </p:nvSpPr>
        <p:spPr>
          <a:xfrm>
            <a:off x="41148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6" name="Label 3036"/>
          <p:cNvSpPr txBox="1"/>
          <p:nvPr/>
        </p:nvSpPr>
        <p:spPr>
          <a:xfrm>
            <a:off x="48463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DATABRICKS</a:t>
            </a:r>
          </a:p>
        </p:txBody>
      </p:sp>
      <p:sp>
        <p:nvSpPr>
          <p:cNvPr id="3037" name="Box 3037"/>
          <p:cNvSpPr/>
          <p:nvPr/>
        </p:nvSpPr>
        <p:spPr>
          <a:xfrm>
            <a:off x="270891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8" name="Label 3038"/>
          <p:cNvSpPr txBox="1"/>
          <p:nvPr/>
        </p:nvSpPr>
        <p:spPr>
          <a:xfrm>
            <a:off x="278206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GITHUB / AZURE DEVOPS</a:t>
            </a:r>
          </a:p>
        </p:txBody>
      </p:sp>
      <p:sp>
        <p:nvSpPr>
          <p:cNvPr id="3039" name="Box 3039"/>
          <p:cNvSpPr/>
          <p:nvPr/>
        </p:nvSpPr>
        <p:spPr>
          <a:xfrm>
            <a:off x="500634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0" name="Label 3040"/>
          <p:cNvSpPr txBox="1"/>
          <p:nvPr/>
        </p:nvSpPr>
        <p:spPr>
          <a:xfrm>
            <a:off x="507949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CRM (SALESFORCE / DYNAMICS)</a:t>
            </a:r>
          </a:p>
        </p:txBody>
      </p:sp>
      <p:sp>
        <p:nvSpPr>
          <p:cNvPr id="3041" name="Box 3041"/>
          <p:cNvSpPr/>
          <p:nvPr/>
        </p:nvSpPr>
        <p:spPr>
          <a:xfrm>
            <a:off x="730377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5F5"/>
          </a:solidFill>
          <a:ln w="19050">
            <a:solidFill>
              <a:srgbClr val="C92A2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2" name="Label 3042"/>
          <p:cNvSpPr txBox="1"/>
          <p:nvPr/>
        </p:nvSpPr>
        <p:spPr>
          <a:xfrm>
            <a:off x="737692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C92A2A"/>
                </a:solidFill>
                <a:latin typeface="Calibri"/>
              </a:rPr>
              <a:t>MODEL SERVING LAYER</a:t>
            </a:r>
          </a:p>
        </p:txBody>
      </p:sp>
      <p:sp>
        <p:nvSpPr>
          <p:cNvPr id="3043" name="Sidebar 3044"/>
          <p:cNvSpPr/>
          <p:nvPr/>
        </p:nvSpPr>
        <p:spPr>
          <a:xfrm>
            <a:off x="9646920" y="1823911"/>
            <a:ext cx="2148840" cy="3401568"/>
          </a:xfrm>
          <a:prstGeom prst="rect">
            <a:avLst/>
          </a:prstGeom>
          <a:noFill/>
          <a:ln w="19050">
            <a:solidFill>
              <a:srgbClr val="495057"/>
            </a:solidFill>
          </a:ln>
        </p:spPr>
        <p:txBody>
          <a:bodyPr rtlCol="0"/>
          <a:lstStyle/>
          <a:p>
            <a:endParaRPr/>
          </a:p>
        </p:txBody>
      </p:sp>
      <p:sp>
        <p:nvSpPr>
          <p:cNvPr id="3045" name="SidebarLabel 3046"/>
          <p:cNvSpPr txBox="1"/>
          <p:nvPr/>
        </p:nvSpPr>
        <p:spPr>
          <a:xfrm>
            <a:off x="9646920" y="1869631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00" b="1" i="0">
                <a:solidFill>
                  <a:srgbClr val="495057"/>
                </a:solidFill>
                <a:latin typeface="Calibri"/>
              </a:rPr>
              <a:t>CROSS-CUTTING</a:t>
            </a:r>
          </a:p>
        </p:txBody>
      </p:sp>
      <p:sp>
        <p:nvSpPr>
          <p:cNvPr id="3047" name="SideBox 3047"/>
          <p:cNvSpPr/>
          <p:nvPr/>
        </p:nvSpPr>
        <p:spPr>
          <a:xfrm>
            <a:off x="9756648" y="2290255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71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8" name="SideLbl 3049"/>
          <p:cNvSpPr txBox="1"/>
          <p:nvPr/>
        </p:nvSpPr>
        <p:spPr>
          <a:xfrm>
            <a:off x="9756648" y="2290255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 dirty="0">
                <a:solidFill>
                  <a:srgbClr val="1971C2"/>
                </a:solidFill>
                <a:latin typeface="Calibri"/>
              </a:rPr>
              <a:t>OBSERVABILITY</a:t>
            </a:r>
          </a:p>
        </p:txBody>
      </p:sp>
      <p:sp>
        <p:nvSpPr>
          <p:cNvPr id="3050" name="SideBox 3050"/>
          <p:cNvSpPr/>
          <p:nvPr/>
        </p:nvSpPr>
        <p:spPr>
          <a:xfrm>
            <a:off x="9756648" y="3037777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92A2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1" name="SideLbl 3052"/>
          <p:cNvSpPr txBox="1"/>
          <p:nvPr/>
        </p:nvSpPr>
        <p:spPr>
          <a:xfrm>
            <a:off x="9756648" y="3037777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 strike="sngStrike">
                <a:solidFill>
                  <a:srgbClr val="FF0000"/>
                </a:solidFill>
                <a:latin typeface="Calibri"/>
              </a:rPr>
              <a:t>SECURITY</a:t>
            </a:r>
          </a:p>
        </p:txBody>
      </p:sp>
      <p:sp>
        <p:nvSpPr>
          <p:cNvPr id="3053" name="SideBox 3053"/>
          <p:cNvSpPr/>
          <p:nvPr/>
        </p:nvSpPr>
        <p:spPr>
          <a:xfrm>
            <a:off x="9756648" y="3785299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B8A3E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4" name="SideLbl 3055"/>
          <p:cNvSpPr txBox="1"/>
          <p:nvPr/>
        </p:nvSpPr>
        <p:spPr>
          <a:xfrm>
            <a:off x="9756648" y="3785299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>
                <a:solidFill>
                  <a:srgbClr val="2B8A3E"/>
                </a:solidFill>
                <a:latin typeface="Calibri"/>
              </a:rPr>
              <a:t>CONTINUOUS QA</a:t>
            </a:r>
          </a:p>
        </p:txBody>
      </p:sp>
      <p:sp>
        <p:nvSpPr>
          <p:cNvPr id="3056" name="SideBox 3056"/>
          <p:cNvSpPr/>
          <p:nvPr/>
        </p:nvSpPr>
        <p:spPr>
          <a:xfrm>
            <a:off x="9756648" y="4532821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7" name="SideLbl 3058"/>
          <p:cNvSpPr txBox="1"/>
          <p:nvPr/>
        </p:nvSpPr>
        <p:spPr>
          <a:xfrm>
            <a:off x="9756648" y="4532821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 dirty="0">
                <a:solidFill>
                  <a:srgbClr val="E67700"/>
                </a:solidFill>
                <a:latin typeface="Calibri"/>
              </a:rPr>
              <a:t>COST GOVERNANCE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B2A3984-56C2-C788-3D28-13F1580F28DC}"/>
              </a:ext>
            </a:extLst>
          </p:cNvPr>
          <p:cNvCxnSpPr>
            <a:stCxn id="3027" idx="2"/>
            <a:endCxn id="3032" idx="0"/>
          </p:cNvCxnSpPr>
          <p:nvPr/>
        </p:nvCxnSpPr>
        <p:spPr>
          <a:xfrm>
            <a:off x="4914900" y="3616135"/>
            <a:ext cx="0" cy="228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53BB2E-C1D5-C7DE-8415-78EEE9DE920F}"/>
              </a:ext>
            </a:extLst>
          </p:cNvPr>
          <p:cNvSpPr txBox="1"/>
          <p:nvPr/>
        </p:nvSpPr>
        <p:spPr>
          <a:xfrm>
            <a:off x="402748" y="5353150"/>
            <a:ext cx="46035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NOTE: All the data are synthetic*</a:t>
            </a:r>
          </a:p>
        </p:txBody>
      </p:sp>
    </p:spTree>
    <p:extLst>
      <p:ext uri="{BB962C8B-B14F-4D97-AF65-F5344CB8AC3E}">
        <p14:creationId xmlns:p14="http://schemas.microsoft.com/office/powerpoint/2010/main" val="4278405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5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Solution Quality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585215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TextBox 1033"/>
          <p:cNvSpPr txBox="1"/>
          <p:nvPr/>
        </p:nvSpPr>
        <p:spPr>
          <a:xfrm>
            <a:off x="722375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Natural-Language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Query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3099815" y="2103120"/>
            <a:ext cx="320041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341985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7" name="TextBox 1036"/>
          <p:cNvSpPr txBox="1"/>
          <p:nvPr/>
        </p:nvSpPr>
        <p:spPr>
          <a:xfrm>
            <a:off x="3557015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Coordinator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(LLM Routing)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934456" y="2103120"/>
            <a:ext cx="320040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625449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6391656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Specialist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Agent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8769096" y="2103120"/>
            <a:ext cx="320040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908913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3" name="TextBox 1042"/>
          <p:cNvSpPr txBox="1"/>
          <p:nvPr/>
        </p:nvSpPr>
        <p:spPr>
          <a:xfrm>
            <a:off x="9226296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Cited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Response</a:t>
            </a:r>
          </a:p>
        </p:txBody>
      </p:sp>
      <p:sp>
        <p:nvSpPr>
          <p:cNvPr id="6001" name="TextBox 6001"/>
          <p:cNvSpPr txBox="1"/>
          <p:nvPr/>
        </p:nvSpPr>
        <p:spPr>
          <a:xfrm>
            <a:off x="475488" y="80467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0" i="1">
                <a:solidFill>
                  <a:srgbClr val="5B6B6B"/>
                </a:solidFill>
                <a:latin typeface="Calibri"/>
              </a:rPr>
              <a:t>Solution Quality · AI Integration Depth</a:t>
            </a:r>
          </a:p>
        </p:txBody>
      </p:sp>
      <p:sp>
        <p:nvSpPr>
          <p:cNvPr id="6010" name="TextBox 6010"/>
          <p:cNvSpPr txBox="1"/>
          <p:nvPr/>
        </p:nvSpPr>
        <p:spPr>
          <a:xfrm>
            <a:off x="58521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Ask in plain English — no syntax, no picking a system.</a:t>
            </a:r>
          </a:p>
        </p:txBody>
      </p:sp>
      <p:sp>
        <p:nvSpPr>
          <p:cNvPr id="6011" name="TextBox 6011"/>
          <p:cNvSpPr txBox="1"/>
          <p:nvPr/>
        </p:nvSpPr>
        <p:spPr>
          <a:xfrm>
            <a:off x="341985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AI reads intent and picks who should answer, not keywords.</a:t>
            </a:r>
          </a:p>
        </p:txBody>
      </p:sp>
      <p:sp>
        <p:nvSpPr>
          <p:cNvPr id="6012" name="TextBox 6012"/>
          <p:cNvSpPr txBox="1"/>
          <p:nvPr/>
        </p:nvSpPr>
        <p:spPr>
          <a:xfrm>
            <a:off x="625449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 dedicated expert checks the real, live system data.</a:t>
            </a:r>
          </a:p>
        </p:txBody>
      </p:sp>
      <p:sp>
        <p:nvSpPr>
          <p:cNvPr id="6013" name="TextBox 6013"/>
          <p:cNvSpPr txBox="1"/>
          <p:nvPr/>
        </p:nvSpPr>
        <p:spPr>
          <a:xfrm>
            <a:off x="908913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Answer comes back in plain language, receipt attached.</a:t>
            </a:r>
          </a:p>
        </p:txBody>
      </p:sp>
      <p:sp>
        <p:nvSpPr>
          <p:cNvPr id="6020" name="TextBox 6020"/>
          <p:cNvSpPr txBox="1"/>
          <p:nvPr/>
        </p:nvSpPr>
        <p:spPr>
          <a:xfrm>
            <a:off x="548640" y="3703320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263030"/>
                </a:solidFill>
                <a:latin typeface="Calibri"/>
              </a:rPr>
              <a:t>For example: ask “did the sales ETL job run last night?” and in under two minutes the coordinator recognizes a data-platform question, the data agent checks the real Databricks job run, and the answer names job #4821, run #99102 — not a guess.</a:t>
            </a:r>
          </a:p>
        </p:txBody>
      </p:sp>
      <p:sp>
        <p:nvSpPr>
          <p:cNvPr id="6030" name="Rounded Rectangle 6030"/>
          <p:cNvSpPr/>
          <p:nvPr/>
        </p:nvSpPr>
        <p:spPr>
          <a:xfrm>
            <a:off x="548640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0" name="TextBox 6040"/>
          <p:cNvSpPr txBox="1"/>
          <p:nvPr/>
        </p:nvSpPr>
        <p:spPr>
          <a:xfrm>
            <a:off x="640080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Data &amp; Pipelines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Databricks job runs and SQL warehouses</a:t>
            </a:r>
          </a:p>
        </p:txBody>
      </p:sp>
      <p:sp>
        <p:nvSpPr>
          <p:cNvPr id="6031" name="Rounded Rectangle 6031"/>
          <p:cNvSpPr/>
          <p:nvPr/>
        </p:nvSpPr>
        <p:spPr>
          <a:xfrm>
            <a:off x="3390138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1" name="TextBox 6041"/>
          <p:cNvSpPr txBox="1"/>
          <p:nvPr/>
        </p:nvSpPr>
        <p:spPr>
          <a:xfrm>
            <a:off x="3481578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Deployments &amp; CI/CD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GitHub Actions and Azure DevOps runs</a:t>
            </a:r>
          </a:p>
        </p:txBody>
      </p:sp>
      <p:sp>
        <p:nvSpPr>
          <p:cNvPr id="6032" name="Rounded Rectangle 6032"/>
          <p:cNvSpPr/>
          <p:nvPr/>
        </p:nvSpPr>
        <p:spPr>
          <a:xfrm>
            <a:off x="6231636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2" name="TextBox 6042"/>
          <p:cNvSpPr txBox="1"/>
          <p:nvPr/>
        </p:nvSpPr>
        <p:spPr>
          <a:xfrm>
            <a:off x="6323076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Customers &amp; Deals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CRM accounts, deals, and owners</a:t>
            </a:r>
          </a:p>
        </p:txBody>
      </p:sp>
      <p:sp>
        <p:nvSpPr>
          <p:cNvPr id="6033" name="Rounded Rectangle 6033"/>
          <p:cNvSpPr/>
          <p:nvPr/>
        </p:nvSpPr>
        <p:spPr>
          <a:xfrm>
            <a:off x="9073134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3" name="TextBox 6043"/>
          <p:cNvSpPr txBox="1"/>
          <p:nvPr/>
        </p:nvSpPr>
        <p:spPr>
          <a:xfrm>
            <a:off x="9164574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Documentation &amp; Runbooks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Internal docs and runbooks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6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QA Strategy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539495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Oval 1033"/>
          <p:cNvSpPr/>
          <p:nvPr/>
        </p:nvSpPr>
        <p:spPr>
          <a:xfrm>
            <a:off x="1979675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722375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Routing Accuracy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768095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Every query graded against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expected domain(s)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4334256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Oval 1037"/>
          <p:cNvSpPr/>
          <p:nvPr/>
        </p:nvSpPr>
        <p:spPr>
          <a:xfrm>
            <a:off x="5774436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4517136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Grounding &amp;</a:t>
            </a:r>
          </a:p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Citations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4562856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Citation checked against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the record, not just present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8129016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Oval 1041"/>
          <p:cNvSpPr/>
          <p:nvPr/>
        </p:nvSpPr>
        <p:spPr>
          <a:xfrm>
            <a:off x="9569196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8311896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Hallucination Rate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8357616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Two-half Judge Agent —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LLM + deterministic check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539496" y="786384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B6B6B"/>
                </a:solidFill>
                <a:latin typeface="Calibri"/>
              </a:rPr>
              <a:t>Every answer is graded twice — once on whether it reached the right specialist, once on whether each sentence is actually backed by a citation.</a:t>
            </a:r>
          </a:p>
        </p:txBody>
      </p:sp>
      <p:sp>
        <p:nvSpPr>
          <p:cNvPr id="5002" name="Rounded Rectangle 5002"/>
          <p:cNvSpPr/>
          <p:nvPr/>
        </p:nvSpPr>
        <p:spPr>
          <a:xfrm>
            <a:off x="539496" y="5074920"/>
            <a:ext cx="11109960" cy="82296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3" name="TextBox 5003"/>
          <p:cNvSpPr txBox="1"/>
          <p:nvPr/>
        </p:nvSpPr>
        <p:spPr>
          <a:xfrm>
            <a:off x="813816" y="5074920"/>
            <a:ext cx="105613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8E91"/>
                </a:solidFill>
                <a:latin typeface="Calibri"/>
              </a:rPr>
              <a:t>Measured on the live control plane, 12 of 12 graded queries: 100% routing accuracy · 5.56% hallucination rate (target &lt;10%) · 93.11% test coverage (target ≥80%) — every target met, not just attempted.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7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Budget &amp; Cost Justification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822960" y="1737360"/>
            <a:ext cx="6400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1F8E91"/>
                </a:solidFill>
                <a:latin typeface="Calibri"/>
              </a:rPr>
              <a:t>₹0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868680" y="306324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B6B6B"/>
                </a:solidFill>
                <a:latin typeface="Calibri"/>
              </a:rPr>
              <a:t>actual spend, of a ₹2,500 fixed ceiling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822960" y="3794760"/>
            <a:ext cx="676656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6" name="TextBox 1035"/>
          <p:cNvSpPr txBox="1"/>
          <p:nvPr/>
        </p:nvSpPr>
        <p:spPr>
          <a:xfrm>
            <a:off x="822960" y="379476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8E91"/>
                </a:solidFill>
                <a:latin typeface="Calibri"/>
              </a:rPr>
              <a:t>100% of ceiling remains as buffer</a:t>
            </a:r>
          </a:p>
        </p:txBody>
      </p:sp>
      <p:sp>
        <p:nvSpPr>
          <p:cNvPr id="1037" name="Oval 1036"/>
          <p:cNvSpPr/>
          <p:nvPr/>
        </p:nvSpPr>
        <p:spPr>
          <a:xfrm>
            <a:off x="822960" y="4709159"/>
            <a:ext cx="109728" cy="109728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1097280" y="466344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3030"/>
                </a:solidFill>
                <a:latin typeface="Calibri"/>
              </a:rPr>
              <a:t>AgentField, Ollama, Pytest, GitHub Actions — every tool open-source or free-tier</a:t>
            </a:r>
          </a:p>
        </p:txBody>
      </p:sp>
      <p:sp>
        <p:nvSpPr>
          <p:cNvPr id="1039" name="Oval 1038"/>
          <p:cNvSpPr/>
          <p:nvPr/>
        </p:nvSpPr>
        <p:spPr>
          <a:xfrm>
            <a:off x="822960" y="5303520"/>
            <a:ext cx="109728" cy="109728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1097280" y="52578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3030"/>
                </a:solidFill>
                <a:latin typeface="Calibri"/>
              </a:rPr>
              <a:t>Paid inference (OpenRouter) was a one-line config option — never required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7955279" y="173736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TextBox 1041"/>
          <p:cNvSpPr txBox="1"/>
          <p:nvPr/>
        </p:nvSpPr>
        <p:spPr>
          <a:xfrm>
            <a:off x="8229600" y="19659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Why ₹0 works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8229600" y="2514600"/>
            <a:ext cx="30175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Local Ollama meets every graded QA target. A hosted model remains a single environment-variable swap — available, never required for this build.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475488" y="868680"/>
            <a:ext cx="11128248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B6B"/>
                </a:solidFill>
                <a:latin typeface="Calibri"/>
              </a:rPr>
              <a:t>Every piece of this system — AgentField, Ollama, Pytest, GitHub Actions — is open-source or free-tier, so the architecture does not get smaller if the budget does.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8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1130881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Scope Decisions — What Changed, and Why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1188720" y="1325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5B6B6B"/>
                </a:solidFill>
                <a:latin typeface="Calibri"/>
              </a:rPr>
              <a:t>Approved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858000" y="1325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Actual — by decision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1188720" y="1874519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5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5" name="TextBox 1034"/>
          <p:cNvSpPr txBox="1"/>
          <p:nvPr/>
        </p:nvSpPr>
        <p:spPr>
          <a:xfrm>
            <a:off x="1371600" y="1874519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OpenRouter</a:t>
            </a:r>
          </a:p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(paid inference)</a:t>
            </a:r>
          </a:p>
        </p:txBody>
      </p:sp>
      <p:cxnSp>
        <p:nvCxnSpPr>
          <p:cNvPr id="1036" name="Connector 1035"/>
          <p:cNvCxnSpPr/>
          <p:nvPr/>
        </p:nvCxnSpPr>
        <p:spPr>
          <a:xfrm>
            <a:off x="5394960" y="2560320"/>
            <a:ext cx="1371600" cy="0"/>
          </a:xfrm>
          <a:prstGeom prst="line">
            <a:avLst/>
          </a:prstGeom>
          <a:ln w="31750">
            <a:solidFill>
              <a:srgbClr val="DCD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7" name="Rounded Rectangle 1036"/>
          <p:cNvSpPr/>
          <p:nvPr/>
        </p:nvSpPr>
        <p:spPr>
          <a:xfrm>
            <a:off x="6858000" y="1874519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7040880" y="1874519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Local Ollama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— ₹0, all targets met</a:t>
            </a:r>
          </a:p>
        </p:txBody>
      </p:sp>
      <p:sp>
        <p:nvSpPr>
          <p:cNvPr id="1039" name="Rounded Rectangle 1038"/>
          <p:cNvSpPr/>
          <p:nvPr/>
        </p:nvSpPr>
        <p:spPr>
          <a:xfrm>
            <a:off x="1188720" y="356616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5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1371600" y="356616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Azure B1s</a:t>
            </a:r>
          </a:p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hosting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5394960" y="4251960"/>
            <a:ext cx="1371600" cy="0"/>
          </a:xfrm>
          <a:prstGeom prst="line">
            <a:avLst/>
          </a:prstGeom>
          <a:ln w="31750">
            <a:solidFill>
              <a:srgbClr val="DCD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6858000" y="356616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3" name="TextBox 1042"/>
          <p:cNvSpPr txBox="1"/>
          <p:nvPr/>
        </p:nvSpPr>
        <p:spPr>
          <a:xfrm>
            <a:off x="7040880" y="356616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— identical behaviour, local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1188720" y="5349240"/>
            <a:ext cx="9784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1">
                <a:solidFill>
                  <a:srgbClr val="5B6B6B"/>
                </a:solidFill>
                <a:latin typeface="Calibri"/>
              </a:rPr>
              <a:t>Both are a recorded ₹0 decision, not a missed requirement — and both remain a one-line config change away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475488" y="768096"/>
            <a:ext cx="10497312" cy="5303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5B6B6B"/>
                </a:solidFill>
                <a:latin typeface="Calibri"/>
              </a:rPr>
              <a:t>Two line items changed because paid inference and cloud hosting were never necessary to hit the proposal’s own targets — not because something was cut.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B8845-D2C5-5536-A8FF-04653E8B7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9</a:t>
            </a:fld>
            <a:endParaRPr lang="en-IN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37355-0C3C-64C1-03B7-6C9BAA0F8EF8}"/>
              </a:ext>
            </a:extLst>
          </p:cNvPr>
          <p:cNvSpPr txBox="1"/>
          <p:nvPr/>
        </p:nvSpPr>
        <p:spPr>
          <a:xfrm>
            <a:off x="2991558" y="2828488"/>
            <a:ext cx="6210125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1F8E91"/>
                </a:solidFill>
                <a:ea typeface="Calibri"/>
                <a:cs typeface="Calibri"/>
              </a:rPr>
              <a:t>THANK YOU</a:t>
            </a:r>
          </a:p>
          <a:p>
            <a:pPr algn="ctr"/>
            <a:endParaRPr lang="en-US" sz="2000" dirty="0">
              <a:solidFill>
                <a:schemeClr val="tx1">
                  <a:lumMod val="76000"/>
                  <a:lumOff val="24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C6A2C-4B51-1564-7104-6C17CD775A20}"/>
              </a:ext>
            </a:extLst>
          </p:cNvPr>
          <p:cNvSpPr txBox="1"/>
          <p:nvPr/>
        </p:nvSpPr>
        <p:spPr>
          <a:xfrm>
            <a:off x="10082596" y="241514"/>
            <a:ext cx="1895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rgbClr val="1F8E91"/>
                </a:solidFill>
                <a:ea typeface="Calibri"/>
                <a:cs typeface="Calibri"/>
              </a:rPr>
              <a:t>S4-I-24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372F4-5000-D38D-DB2F-E0411A6A93B3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4C02FF-9BCB-7E26-EA32-0FD6756D0DF4}"/>
              </a:ext>
            </a:extLst>
          </p:cNvPr>
          <p:cNvGrpSpPr/>
          <p:nvPr/>
        </p:nvGrpSpPr>
        <p:grpSpPr>
          <a:xfrm rot="2700000">
            <a:off x="10967489" y="2157469"/>
            <a:ext cx="2008299" cy="2041410"/>
            <a:chOff x="10967489" y="2157469"/>
            <a:chExt cx="1316462" cy="132329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A39FF88-710F-BA83-9BCF-5D26BDE7127E}"/>
                </a:ext>
              </a:extLst>
            </p:cNvPr>
            <p:cNvSpPr/>
            <p:nvPr/>
          </p:nvSpPr>
          <p:spPr>
            <a:xfrm>
              <a:off x="10967489" y="2195569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solidFill>
              <a:srgbClr val="DCD400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50DFF37D-AE56-1A28-056C-B7BD1B5F56A0}"/>
                </a:ext>
              </a:extLst>
            </p:cNvPr>
            <p:cNvSpPr txBox="1"/>
            <p:nvPr/>
          </p:nvSpPr>
          <p:spPr>
            <a:xfrm>
              <a:off x="10967489" y="2157469"/>
              <a:ext cx="1316462" cy="1323298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67A553-EC1F-8F54-A819-6EB5A46715E1}"/>
              </a:ext>
            </a:extLst>
          </p:cNvPr>
          <p:cNvGrpSpPr/>
          <p:nvPr/>
        </p:nvGrpSpPr>
        <p:grpSpPr>
          <a:xfrm rot="2700000">
            <a:off x="8699025" y="2147080"/>
            <a:ext cx="2008299" cy="2041410"/>
            <a:chOff x="8699025" y="2147080"/>
            <a:chExt cx="1316462" cy="1323298"/>
          </a:xfrm>
          <a:solidFill>
            <a:srgbClr val="1F8E91"/>
          </a:solidFill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5B957A0-07F7-6F9E-C3B4-088C0B3689E9}"/>
                </a:ext>
              </a:extLst>
            </p:cNvPr>
            <p:cNvSpPr/>
            <p:nvPr/>
          </p:nvSpPr>
          <p:spPr>
            <a:xfrm>
              <a:off x="8699025" y="218518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10561BAC-6CCF-13CB-E5B3-583A63F887D9}"/>
                </a:ext>
              </a:extLst>
            </p:cNvPr>
            <p:cNvSpPr txBox="1"/>
            <p:nvPr/>
          </p:nvSpPr>
          <p:spPr>
            <a:xfrm>
              <a:off x="8699025" y="2147080"/>
              <a:ext cx="1316462" cy="1323298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BFECA43-30DB-4841-11B6-25BA767A2B0B}"/>
              </a:ext>
            </a:extLst>
          </p:cNvPr>
          <p:cNvGrpSpPr/>
          <p:nvPr/>
        </p:nvGrpSpPr>
        <p:grpSpPr>
          <a:xfrm rot="2700000">
            <a:off x="9987076" y="2167860"/>
            <a:ext cx="2008299" cy="2041410"/>
            <a:chOff x="9987076" y="2167860"/>
            <a:chExt cx="1316462" cy="1323298"/>
          </a:xfrm>
          <a:solidFill>
            <a:srgbClr val="1F8E91"/>
          </a:solidFill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E6A6E56D-A13F-2CD9-C7B5-6C9FC55F1A45}"/>
                </a:ext>
              </a:extLst>
            </p:cNvPr>
            <p:cNvSpPr/>
            <p:nvPr/>
          </p:nvSpPr>
          <p:spPr>
            <a:xfrm>
              <a:off x="9987076" y="220596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845BF228-1FAC-F571-C341-A2103AD44EC4}"/>
                </a:ext>
              </a:extLst>
            </p:cNvPr>
            <p:cNvSpPr txBox="1"/>
            <p:nvPr/>
          </p:nvSpPr>
          <p:spPr>
            <a:xfrm>
              <a:off x="9987076" y="2167860"/>
              <a:ext cx="1316462" cy="1323298"/>
            </a:xfrm>
            <a:prstGeom prst="rect">
              <a:avLst/>
            </a:prstGeom>
            <a:solidFill>
              <a:srgbClr val="2DB6BB"/>
            </a:solidFill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8E5D3-2781-4E0C-7785-C8B5368E0FED}"/>
              </a:ext>
            </a:extLst>
          </p:cNvPr>
          <p:cNvGrpSpPr/>
          <p:nvPr/>
        </p:nvGrpSpPr>
        <p:grpSpPr>
          <a:xfrm>
            <a:off x="-262562" y="2213083"/>
            <a:ext cx="525124" cy="2026921"/>
            <a:chOff x="-262562" y="2213083"/>
            <a:chExt cx="207456" cy="800759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F633C376-D099-53BD-AC14-9784BB65FCEE}"/>
                </a:ext>
              </a:extLst>
            </p:cNvPr>
            <p:cNvSpPr/>
            <p:nvPr/>
          </p:nvSpPr>
          <p:spPr>
            <a:xfrm>
              <a:off x="-262562" y="2251183"/>
              <a:ext cx="207456" cy="762659"/>
            </a:xfrm>
            <a:custGeom>
              <a:avLst/>
              <a:gdLst/>
              <a:ahLst/>
              <a:cxnLst/>
              <a:rect l="l" t="t" r="r" b="b"/>
              <a:pathLst>
                <a:path w="207456" h="762659">
                  <a:moveTo>
                    <a:pt x="0" y="0"/>
                  </a:moveTo>
                  <a:lnTo>
                    <a:pt x="207456" y="0"/>
                  </a:lnTo>
                  <a:lnTo>
                    <a:pt x="207456" y="762659"/>
                  </a:lnTo>
                  <a:lnTo>
                    <a:pt x="0" y="762659"/>
                  </a:lnTo>
                  <a:close/>
                </a:path>
              </a:pathLst>
            </a:custGeom>
            <a:solidFill>
              <a:srgbClr val="2DB6BB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E6D8649-67A3-98BD-AF25-CC3125B02CEF}"/>
                </a:ext>
              </a:extLst>
            </p:cNvPr>
            <p:cNvSpPr txBox="1"/>
            <p:nvPr/>
          </p:nvSpPr>
          <p:spPr>
            <a:xfrm>
              <a:off x="-262562" y="2213083"/>
              <a:ext cx="207456" cy="800759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1663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917f08-b411-4c8c-b73b-478edaa64b5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2675B97AD28E4A84DDD15DAFC4C3BF" ma:contentTypeVersion="15" ma:contentTypeDescription="Create a new document." ma:contentTypeScope="" ma:versionID="34fe4ac9dce90b3ca86d44f51d6b599b">
  <xsd:schema xmlns:xsd="http://www.w3.org/2001/XMLSchema" xmlns:xs="http://www.w3.org/2001/XMLSchema" xmlns:p="http://schemas.microsoft.com/office/2006/metadata/properties" xmlns:ns3="85917f08-b411-4c8c-b73b-478edaa64b5d" xmlns:ns4="8acdb649-c3dc-403e-8f98-6d94a85edfed" targetNamespace="http://schemas.microsoft.com/office/2006/metadata/properties" ma:root="true" ma:fieldsID="32de2392117b035fb8469ae55c5d331a" ns3:_="" ns4:_="">
    <xsd:import namespace="85917f08-b411-4c8c-b73b-478edaa64b5d"/>
    <xsd:import namespace="8acdb649-c3dc-403e-8f98-6d94a85edfe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ObjectDetectorVersions" minOccurs="0"/>
                <xsd:element ref="ns3:MediaLengthInSecond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917f08-b411-4c8c-b73b-478edaa64b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cdb649-c3dc-403e-8f98-6d94a85ed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373FA7-71C7-4D16-9EDE-82A2EECC32F9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85917f08-b411-4c8c-b73b-478edaa64b5d"/>
    <ds:schemaRef ds:uri="http://purl.org/dc/dcmitype/"/>
    <ds:schemaRef ds:uri="http://schemas.microsoft.com/office/2006/metadata/properties"/>
    <ds:schemaRef ds:uri="http://purl.org/dc/elements/1.1/"/>
    <ds:schemaRef ds:uri="8acdb649-c3dc-403e-8f98-6d94a85edfed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DF03512-25DF-493B-9B53-51BE253359EC}">
  <ds:schemaRefs/>
</ds:datastoreItem>
</file>

<file path=customXml/itemProps3.xml><?xml version="1.0" encoding="utf-8"?>
<ds:datastoreItem xmlns:ds="http://schemas.openxmlformats.org/officeDocument/2006/customXml" ds:itemID="{D64E5DF6-33F1-4CBE-90C8-28D1C50540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917f08-b411-4c8c-b73b-478edaa64b5d"/>
    <ds:schemaRef ds:uri="8acdb649-c3dc-403e-8f98-6d94a85ed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759</Words>
  <Application>Microsoft Office PowerPoint</Application>
  <PresentationFormat>Widescreen</PresentationFormat>
  <Paragraphs>119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Sivaram Menon</dc:creator>
  <cp:lastModifiedBy>Sridhar V</cp:lastModifiedBy>
  <cp:revision>27</cp:revision>
  <dcterms:created xsi:type="dcterms:W3CDTF">2023-06-07T10:10:00Z</dcterms:created>
  <dcterms:modified xsi:type="dcterms:W3CDTF">2026-10-14T08:43:33Z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0x0101004D2675B97AD28E4A84DDD15DAFC4C3BF</vt:lpwstr>
  </property>
  <property fmtid="{D5CDD505-2E9C-101B-9397-08002B2CF9AE}" pid="3" name="ICV">
    <vt:lpwstr>D557ECC3AC674A6CB7A90FDC0A14402D_12</vt:lpwstr>
  </property>
  <property fmtid="{D5CDD505-2E9C-101B-9397-08002B2CF9AE}" pid="4" name="KSOProductBuildVer">
    <vt:lpwstr>1033-12.2.0.16731</vt:lpwstr>
  </property>
  <property fmtid="{D5CDD505-2E9C-101B-9397-08002B2CF9AE}" pid="5" name="MediaServiceImageTags">
    <vt:lpwstr/>
  </property>
  <property fmtid="{D5CDD505-2E9C-101B-9397-08002B2CF9AE}" pid="6" name="Order">
    <vt:r8>4800</vt:r8>
  </property>
  <property fmtid="{D5CDD505-2E9C-101B-9397-08002B2CF9AE}" pid="7" name="xd_Signature">
    <vt:bool>false</vt:bool>
  </property>
  <property fmtid="{D5CDD505-2E9C-101B-9397-08002B2CF9AE}" pid="8" name="xd_ProgID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